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25199975" cy="5039995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0" d="100"/>
          <a:sy n="20" d="100"/>
        </p:scale>
        <p:origin x="476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E6BC0B8-43BA-4587-BB22-3034E8C0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0A94-15AC-445B-88CB-963F881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C03C0-2F4F-4BF6-8F8C-AF9C6C1D3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98A9-78B1-424A-BED4-E2D1EA2E2A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2923D-BC9A-4508-A7CA-D510D6E6CF3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A240-D235-450E-A2FD-DE400D983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37032-478C-4C5D-9ABD-F3B6DFBB3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EBAEF-EC6C-46F1-8110-6A0AD4B2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8EE94-65DC-4938-AC1B-3C28DDE380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15B9-CDCB-48D8-979C-7DD3FDF7D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024D-9D5C-42A7-8B5F-7B2CBDC951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64AB-1237-46FC-A3B8-4544CB4A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BA2B-022B-4AD7-B5BC-24B36DF04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305FB-768B-40BF-962C-6D96125054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0C8B8B-0120-44FA-8219-1227428824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0854-134F-4FCF-B6A1-21CAB2BEBC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D5302-F383-405E-B35C-16A69C50F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2B4C-0844-48EF-A7D3-1F92D884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170D7-107A-417B-A524-91A4A24B8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FE792-8F5A-48C0-B76C-53D78EF5BFA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75B4D-758E-45AC-A76B-4E6690153A6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D9DDA-92CE-419B-806E-F6B5D5A9A34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9D8676-0A5D-454B-9AAF-56D95292FC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51534-19A2-4196-AD46-D7FBB7EE40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ECEBD4-2E2B-42B2-8C24-40DB4D6C4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693D-60C3-4498-A5F1-DEAAE3F2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18C40-88BA-41E2-88BD-316C99BC2A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8111-5464-4FC9-8F0E-DB2CB5EFC4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96B90-F598-4D29-968D-8FDE9443D6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32BC6A-7FF1-4EE8-A11F-CEF3ACCF89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EF93A-FF69-4549-B9EB-B658AF7924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EFAA-A1CA-4E67-A353-F94E25481A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B1388-3061-4042-8A3C-2EB5EF96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757F-E856-4579-9E18-1269A172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6623-CA0F-43C0-9E3A-62E02CDF3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55309-CD48-4CB3-A711-04543F64D2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D64C1-B834-4AAE-8E59-9BCC90A1A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B765A-955F-4713-A629-990A18B760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B983-75D3-43A3-A444-175500C29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910D9-403F-47E2-A69A-79E3B63BF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E9B02-B917-4556-81C9-CEB9D28E57A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6B5C-438C-4FFD-851F-6CEA70D0EB9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9E704F-2EC2-4FFC-BD10-CEF0FC0728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47D2B-DC37-425C-B943-0C1428F523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93C4-3DF3-4BFF-91D3-9F809F49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72F1D-FC2C-4779-861F-F0A0D63CB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62FB-228E-40E3-941A-88A726EE31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996-BDA2-4FB5-A110-640F030F4A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B73AB-44FD-44E5-81A9-93E5388067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8B2DE-156E-471B-8EDF-902C96814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96BE9-22C1-4668-B2DC-C9C8F7CA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078A5-56C9-4717-992B-611E1F927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2D0A5-110C-411B-BD5F-0756C0F0BE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CFE70-55E4-4FEC-A9E0-ECB9A1005F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57EE8-0B47-4888-90EC-6BCCDC9E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8C956-811A-45E7-A948-0A9EF3AF8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6B746-902F-4297-9415-493420DB7A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C4D1-C099-4193-8807-9D51968E6CF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78DA-990E-48B9-AB55-801580DEB86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03DCA-9940-43C4-9E50-4A34BDE669F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4CAE4D-B93C-5B7F-4753-E6960337DEA7}"/>
              </a:ext>
            </a:extLst>
          </p:cNvPr>
          <p:cNvSpPr>
            <a:spLocks noGrp="1"/>
          </p:cNvSpPr>
          <p:nvPr/>
        </p:nvSpPr>
        <p:spPr>
          <a:xfrm>
            <a:off x="1727654" y="4565537"/>
            <a:ext cx="4092121" cy="62241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2400" b="1">
                <a:solidFill>
                  <a:schemeClr val="bg1"/>
                </a:solidFill>
              </a:rPr>
              <a:t>프로젝트명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89FA6-79CC-0748-672B-CA75A6939ED5}"/>
              </a:ext>
            </a:extLst>
          </p:cNvPr>
          <p:cNvSpPr>
            <a:spLocks noGrp="1"/>
          </p:cNvSpPr>
          <p:nvPr/>
        </p:nvSpPr>
        <p:spPr>
          <a:xfrm>
            <a:off x="2473323" y="5854587"/>
            <a:ext cx="20253328" cy="1373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0000" b="1" i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전동기 · 전세동행기록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D7156-CCC7-8E70-0D95-8D735CA5FE0E}"/>
              </a:ext>
            </a:extLst>
          </p:cNvPr>
          <p:cNvSpPr>
            <a:spLocks noGrp="1"/>
          </p:cNvSpPr>
          <p:nvPr/>
        </p:nvSpPr>
        <p:spPr>
          <a:xfrm>
            <a:off x="2473323" y="7446168"/>
            <a:ext cx="20253328" cy="608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3800" i="0" b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“계약 당일부터 보증금을 돌려받을 때까지, 내 계약에 맞춰 챙겨 주는 전세 동행 서비스”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6ABC-3930-99E4-78C4-E5ED7DBA600C}"/>
              </a:ext>
            </a:extLst>
          </p:cNvPr>
          <p:cNvSpPr>
            <a:spLocks noGrp="1"/>
          </p:cNvSpPr>
          <p:nvPr/>
        </p:nvSpPr>
        <p:spPr>
          <a:xfrm>
            <a:off x="1825623" y="9443148"/>
            <a:ext cx="15525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4EEC8-7D19-3E33-8403-B05E6D795AEA}"/>
              </a:ext>
            </a:extLst>
          </p:cNvPr>
          <p:cNvSpPr>
            <a:spLocks noGrp="1"/>
          </p:cNvSpPr>
          <p:nvPr/>
        </p:nvSpPr>
        <p:spPr>
          <a:xfrm>
            <a:off x="1824035" y="11135066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825623" y="10105929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전동기</a:t>
            </a:r>
          </a:p>
        </p:txBody>
      </p:sp>
      <p:sp>
        <p:nvSpPr>
          <p:cNvPr id="21" name="사각형: 잘린 위쪽 모서리 20">
            <a:extLst>
              <a:ext uri="{FF2B5EF4-FFF2-40B4-BE49-F238E27FC236}">
                <a16:creationId xmlns:a16="http://schemas.microsoft.com/office/drawing/2014/main" id="{BBA1C118-1650-79CF-7D0A-4436592A06FC}"/>
              </a:ext>
            </a:extLst>
          </p:cNvPr>
          <p:cNvSpPr>
            <a:spLocks noGrp="1"/>
          </p:cNvSpPr>
          <p:nvPr/>
        </p:nvSpPr>
        <p:spPr>
          <a:xfrm>
            <a:off x="1115823" y="5211083"/>
            <a:ext cx="22968329" cy="3440792"/>
          </a:xfrm>
          <a:prstGeom prst="snip2SameRect">
            <a:avLst>
              <a:gd name="adj1" fmla="val 9145"/>
              <a:gd name="adj2" fmla="val 9193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115824" y="9126380"/>
            <a:ext cx="12040669" cy="545083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D366D-B7C0-57FC-3ADC-A4A8D3C31F54}"/>
              </a:ext>
            </a:extLst>
          </p:cNvPr>
          <p:cNvSpPr>
            <a:spLocks noGrp="1"/>
          </p:cNvSpPr>
          <p:nvPr/>
        </p:nvSpPr>
        <p:spPr>
          <a:xfrm>
            <a:off x="3121024" y="891540"/>
            <a:ext cx="18957926" cy="26768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AI·SW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신기술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3EX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전공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endParaRPr lang="en-US"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  <a:p>
            <a:pPr algn="ctr">
              <a:buNone/>
            </a:pP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프로젝트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발표회</a:t>
            </a:r>
            <a:endParaRPr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9D89C-6DE2-B1F2-83AF-CEE1CA096180}"/>
              </a:ext>
            </a:extLst>
          </p:cNvPr>
          <p:cNvSpPr>
            <a:spLocks noGrp="1"/>
          </p:cNvSpPr>
          <p:nvPr/>
        </p:nvSpPr>
        <p:spPr>
          <a:xfrm>
            <a:off x="9051015" y="9443148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지도교수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flipH="1">
            <a:off x="8506821" y="9373839"/>
            <a:ext cx="28800" cy="1433670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43A27A-448D-77ED-D5AB-C41EE7D79BA3}"/>
              </a:ext>
            </a:extLst>
          </p:cNvPr>
          <p:cNvSpPr>
            <a:spLocks noGrp="1"/>
          </p:cNvSpPr>
          <p:nvPr/>
        </p:nvSpPr>
        <p:spPr>
          <a:xfrm>
            <a:off x="9051015" y="10105929"/>
            <a:ext cx="3979187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○○○</a:t>
            </a:r>
          </a:p>
        </p:txBody>
      </p:sp>
      <p:sp>
        <p:nvSpPr>
          <p:cNvPr id="33" name="사각형: 잘린 위쪽 모서리 32">
            <a:extLst>
              <a:ext uri="{FF2B5EF4-FFF2-40B4-BE49-F238E27FC236}">
                <a16:creationId xmlns:a16="http://schemas.microsoft.com/office/drawing/2014/main" id="{C626C3AE-3093-BD9D-72B6-CB3997022CE7}"/>
              </a:ext>
            </a:extLst>
          </p:cNvPr>
          <p:cNvSpPr>
            <a:spLocks noGrp="1"/>
          </p:cNvSpPr>
          <p:nvPr/>
        </p:nvSpPr>
        <p:spPr>
          <a:xfrm>
            <a:off x="1115823" y="15051715"/>
            <a:ext cx="22968329" cy="33251827"/>
          </a:xfrm>
          <a:prstGeom prst="snip2SameRect">
            <a:avLst>
              <a:gd name="adj1" fmla="val 1350"/>
              <a:gd name="adj2" fmla="val 1872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3671887" y="9116071"/>
            <a:ext cx="10412265" cy="5461139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5795117" y="11535116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5000" b="1" i="1" dirty="0">
                <a:latin typeface="맑은 고딕"/>
                <a:ea typeface="맑은 고딕"/>
                <a:cs typeface="맑은 고딕"/>
              </a:rPr>
              <a:t>팀 그룹 </a:t>
            </a:r>
            <a:r>
              <a:rPr sz="5000" b="1" i="1" dirty="0" err="1">
                <a:latin typeface="맑은 고딕"/>
                <a:ea typeface="맑은 고딕"/>
                <a:cs typeface="맑은 고딕"/>
              </a:rPr>
              <a:t>사진</a:t>
            </a:r>
            <a:endParaRPr sz="5000" b="1" i="1" dirty="0"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C883AA9-0A18-4B33-852E-F7725CF2224A}"/>
              </a:ext>
            </a:extLst>
          </p:cNvPr>
          <p:cNvGraphicFramePr/>
          <p:nvPr/>
        </p:nvGraphicFramePr>
        <p:xfrm>
          <a:off x="1824035" y="11737967"/>
          <a:ext cx="10600194" cy="274320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533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30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학과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이름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역할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황웅재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PO · 백엔드·규칙 엔진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배승환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PM · 앱·검증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B43DBC-8080-408F-B64F-84EF01CCC80E}"/>
              </a:ext>
            </a:extLst>
          </p:cNvPr>
          <p:cNvSpPr>
            <a:spLocks noGrp="1"/>
          </p:cNvSpPr>
          <p:nvPr/>
        </p:nvSpPr>
        <p:spPr>
          <a:xfrm>
            <a:off x="1727653" y="16307924"/>
            <a:ext cx="219582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1" i="0" dirty="0">
                <a:latin typeface="+mn-ea"/>
                <a:ea typeface="+mn-ea"/>
                <a:cs typeface="+mn-ea"/>
              </a:rPr>
              <a:t>계약 전 점검 서비스는 많지만, 계약 뒤 2년의 기한은 세입자 혼자 챙겨야 합니다. 전동기는 등기부 요약으로 위험을 판정하고, 계약 당일 특약 결과까지 반영해 내 계약에 맞는 할 일을 만듭니다.</a:t>
            </a:r>
            <a:endParaRPr sz="4000" b="1" i="0" dirty="0">
              <a:latin typeface="+mn-ea"/>
              <a:ea typeface="+mn-ea"/>
              <a:cs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F6888F-04F6-4BFD-B74B-173FCBA6D616}"/>
              </a:ext>
            </a:extLst>
          </p:cNvPr>
          <p:cNvSpPr>
            <a:spLocks noGrp="1"/>
          </p:cNvSpPr>
          <p:nvPr/>
        </p:nvSpPr>
        <p:spPr>
          <a:xfrm>
            <a:off x="1415845" y="15388884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프로젝트 소개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15844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주요 기능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824035" y="19249937"/>
            <a:ext cx="125984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내 계약 날짜로 할 일 9종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증빙 사진 1장 전세 기록함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보증금 비율 역전세 경보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등기부 판정·계약 당일 체크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D3448B7-8C9C-4122-8956-BA98395B6B66}"/>
              </a:ext>
            </a:extLst>
          </p:cNvPr>
          <p:cNvSpPr>
            <a:spLocks noGrp="1"/>
          </p:cNvSpPr>
          <p:nvPr/>
        </p:nvSpPr>
        <p:spPr>
          <a:xfrm>
            <a:off x="12424229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기대 효과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4F8BF7-4EC2-411B-90FF-02014A154B56}"/>
              </a:ext>
            </a:extLst>
          </p:cNvPr>
          <p:cNvSpPr>
            <a:spLocks noGrp="1"/>
          </p:cNvSpPr>
          <p:nvPr/>
        </p:nvSpPr>
        <p:spPr>
          <a:xfrm>
            <a:off x="13030202" y="19042038"/>
            <a:ext cx="1065570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0" i="0" dirty="0">
                <a:latin typeface="+mn-ea"/>
                <a:cs typeface="+mn-ea"/>
              </a:rPr>
              <a:t>첫 전세 세입자가 전입신고·반환보증 기한을 놓쳐 보증금을 잃는 일을 줄입니다. 부산에서 검증한 뒤 지자체·대학 이용권(B2G)으로 넓힙니다.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rot="16200000">
            <a:off x="12626772" y="11067450"/>
            <a:ext cx="45719" cy="22072556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소제목 서비스 흐름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2631400"/>
            <a:ext cx="1016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 흐름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6" name="소제목 시스템 구성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2344400" y="22631400"/>
            <a:ext cx="1104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시스템 구성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7" name="흐름 1"/>
          <p:cNvSpPr/>
          <p:nvPr/>
        </p:nvSpPr>
        <p:spPr>
          <a:xfrm>
            <a:off x="1955800" y="2364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84400" y="2364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01  계약 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1500" y="2364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등기부 요약 PDF·보증금 입력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→ 3단계 판정·역전세 지표 (무료)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2466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1" name="흐름 2"/>
          <p:cNvSpPr/>
          <p:nvPr/>
        </p:nvSpPr>
        <p:spPr>
          <a:xfrm>
            <a:off x="1955800" y="2491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84400" y="2491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02  계약 당일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1500" y="2491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소유자·대리인·계좌 명의 확인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특약 넣음 / 거절당함 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593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5" name="흐름 3"/>
          <p:cNvSpPr/>
          <p:nvPr/>
        </p:nvSpPr>
        <p:spPr>
          <a:xfrm>
            <a:off x="1955800" y="2618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84400" y="2618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03  계약~입주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1500" y="2618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날짜 입력 → 맞춤 할 일 9종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증빙 사진은 전세 기록함에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2720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9" name="흐름 4"/>
          <p:cNvSpPr/>
          <p:nvPr/>
        </p:nvSpPr>
        <p:spPr>
          <a:xfrm>
            <a:off x="1955800" y="2745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84400" y="2745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04  거주·만기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1500" y="2745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역전세 경보 재계산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보증금 반환 확인·다음 집 갈아타기</a:t>
            </a:r>
          </a:p>
        </p:txBody>
      </p:sp>
      <p:sp>
        <p:nvSpPr>
          <p:cNvPr id="52" name="시스템 앱"/>
          <p:cNvSpPr/>
          <p:nvPr/>
        </p:nvSpPr>
        <p:spPr>
          <a:xfrm>
            <a:off x="12509500" y="252984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EF8E9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800" b="1" i="0">
                <a:solidFill>
                  <a:srgbClr val="288D26"/>
                </a:solidFill>
              </a:rPr>
              <a:t>앱 (Expo)</a:t>
            </a:r>
          </a:p>
          <a:p>
            <a:pPr algn="ctr"/>
            <a:r>
              <a:rPr sz="2000" b="0" i="0">
                <a:solidFill>
                  <a:srgbClr val="193B22"/>
                </a:solidFill>
              </a:rPr>
              <a:t>웹·iOS·Android</a:t>
            </a:r>
          </a:p>
        </p:txBody>
      </p:sp>
      <p:sp>
        <p:nvSpPr>
          <p:cNvPr id="53" name="시스템 서버"/>
          <p:cNvSpPr/>
          <p:nvPr/>
        </p:nvSpPr>
        <p:spPr>
          <a:xfrm>
            <a:off x="15684500" y="25171400"/>
            <a:ext cx="3429000" cy="1778000"/>
          </a:xfrm>
          <a:prstGeom prst="roundRect">
            <a:avLst>
              <a:gd name="adj" fmla="val 8000"/>
            </a:avLst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FastAPI 서버</a:t>
            </a:r>
          </a:p>
          <a:p>
            <a:pPr algn="ctr"/>
            <a:r>
              <a:rPr sz="2100" b="0" i="0">
                <a:solidFill>
                  <a:srgbClr val="FFFFFF"/>
                </a:solidFill>
              </a:rPr>
              <a:t>판정·할 일·경보 엔진</a:t>
            </a:r>
          </a:p>
        </p:txBody>
      </p:sp>
      <p:sp>
        <p:nvSpPr>
          <p:cNvPr id="54" name="시스템 규칙 파일(YAML) 7종"/>
          <p:cNvSpPr/>
          <p:nvPr/>
        </p:nvSpPr>
        <p:spPr>
          <a:xfrm>
            <a:off x="19812000" y="2364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규칙 파일(YAML) 7종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판정·특약·할 일·보증기관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9113500" y="24155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6" name="시스템 등기부 요약 PDF"/>
          <p:cNvSpPr/>
          <p:nvPr/>
        </p:nvSpPr>
        <p:spPr>
          <a:xfrm>
            <a:off x="19812000" y="2491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등기부 요약 PDF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pdfplumber 규칙 기반 파서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9113500" y="25425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8" name="시스템 공공데이터포털"/>
          <p:cNvSpPr/>
          <p:nvPr/>
        </p:nvSpPr>
        <p:spPr>
          <a:xfrm>
            <a:off x="19812000" y="2618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공공데이터포털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아파트·연립다세대 실거래가 API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9113500" y="26060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60" name="시스템 알림"/>
          <p:cNvSpPr/>
          <p:nvPr/>
        </p:nvSpPr>
        <p:spPr>
          <a:xfrm>
            <a:off x="19812000" y="2745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알림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이메일·ICS 기한표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113500" y="26060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tailEnd type="triangle" w="med" len="med"/>
          </a:ln>
        </p:spPr>
      </p:cxnSp>
      <p:cxnSp>
        <p:nvCxnSpPr>
          <p:cNvPr id="62" name="Connector 61"/>
          <p:cNvCxnSpPr/>
          <p:nvPr/>
        </p:nvCxnSpPr>
        <p:spPr>
          <a:xfrm>
            <a:off x="15049500" y="26060400"/>
            <a:ext cx="635000" cy="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12509500" y="23876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판정 기준·연동 규칙·할 일 9종을 코드가 아닌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규칙 파일로 두어, 기준이 바뀌면 파일만 고칩니다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509500" y="27178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가상 날짜로 2년 일정을 5분 안에 시연하고,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반환보증 기한은 이메일로 알립니다</a:t>
            </a:r>
          </a:p>
        </p:txBody>
      </p:sp>
      <p:sp>
        <p:nvSpPr>
          <p:cNvPr id="65" name="소제목 핵심 장면 · 특약을 거절당하면 할 일 순서가 바뀝니다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8727400"/>
            <a:ext cx="2159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핵심 장면 · 특약을 거절당하면 할 일 순서가 바뀝니다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955800" y="29654500"/>
            <a:ext cx="116840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200" b="0" i="0">
                <a:solidFill>
                  <a:srgbClr val="193B22"/>
                </a:solidFill>
              </a:rPr>
              <a:t>시연 빌라에 </a:t>
            </a:r>
            <a:r>
              <a:rPr sz="2200" b="1" i="0">
                <a:solidFill>
                  <a:srgbClr val="193B22"/>
                </a:solidFill>
              </a:rPr>
              <a:t>‘잔금일 다음 날까지 담보 설정 금지’</a:t>
            </a:r>
            <a:r>
              <a:rPr sz="2200" b="0" i="0">
                <a:solidFill>
                  <a:srgbClr val="193B22"/>
                </a:solidFill>
              </a:rPr>
              <a:t> 특약을 넣었을 때와 거절당했을 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558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95500" y="30226000"/>
            <a:ext cx="5054600" cy="609600"/>
          </a:xfrm>
          <a:prstGeom prst="rect">
            <a:avLst/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넣음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1   반환보증 가입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마감 전 재알림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갱신·이사 의사 통보 안내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8   전입신고 (잔금일)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352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기록함에 ‘특약이 보이는 계약서 사진’을 필수 서류로 추가합니다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9800" y="32131000"/>
            <a:ext cx="838200" cy="762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4400" b="1" i="0">
                <a:solidFill>
                  <a:srgbClr val="288D26"/>
                </a:solidFill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280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67700" y="30226000"/>
            <a:ext cx="5054600" cy="609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거절당함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5800" y="30988000"/>
            <a:ext cx="4978400" cy="482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582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C0392B"/>
                </a:solidFill>
              </a:rPr>
              <a:t>1   전입신고 (잔금일) 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가입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반환보증 마감 전 재알림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4   갱신·이사 의사 통보 안내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074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잔금 당일 설정된 담보는 재비교로 못 잡으니, 당일 전입신고로 대항력을 확보하라고 안내</a:t>
            </a:r>
          </a:p>
        </p:txBody>
      </p:sp>
      <p:sp>
        <p:nvSpPr>
          <p:cNvPr id="85" name="앱 화면 계약 당일 체크"/>
          <p:cNvSpPr/>
          <p:nvPr/>
        </p:nvSpPr>
        <p:spPr>
          <a:xfrm>
            <a:off x="15875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367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계약 당일 체크</a:t>
            </a:r>
          </a:p>
        </p:txBody>
      </p:sp>
      <p:sp>
        <p:nvSpPr>
          <p:cNvPr id="87" name="앱 화면 바뀐 할 일 목록"/>
          <p:cNvSpPr/>
          <p:nvPr/>
        </p:nvSpPr>
        <p:spPr>
          <a:xfrm>
            <a:off x="19558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050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바뀐 할 일 목록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55800" y="348234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시연 빌라(보증금 1억 4천만 원, 내 보증금 비율 95.1%)를 할 일 엔진에 넣어 나온 실제 순서입니다.</a:t>
            </a:r>
          </a:p>
        </p:txBody>
      </p:sp>
      <p:sp>
        <p:nvSpPr>
          <p:cNvPr id="90" name="소제목 검증 결과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354330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검증 결과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91" name="검증 등기부 요약 추출 정확도"/>
          <p:cNvSpPr/>
          <p:nvPr/>
        </p:nvSpPr>
        <p:spPr>
          <a:xfrm>
            <a:off x="19558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9558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등기부 요약 추출 정확도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샘플 10건 112/112 항목</a:t>
            </a:r>
          </a:p>
        </p:txBody>
      </p:sp>
      <p:sp>
        <p:nvSpPr>
          <p:cNvPr id="94" name="검증 기한 계산 시나리오"/>
          <p:cNvSpPr/>
          <p:nvPr/>
        </p:nvSpPr>
        <p:spPr>
          <a:xfrm>
            <a:off x="59182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182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10/10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198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기한 계산 시나리오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모두 일치</a:t>
            </a:r>
          </a:p>
        </p:txBody>
      </p:sp>
      <p:sp>
        <p:nvSpPr>
          <p:cNvPr id="97" name="검증 시연 집 판정·경보"/>
          <p:cNvSpPr/>
          <p:nvPr/>
        </p:nvSpPr>
        <p:spPr>
          <a:xfrm>
            <a:off x="98806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806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2/2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822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시연 집 판정·경보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5800" y="38887400"/>
            <a:ext cx="11684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193B22"/>
                </a:solidFill>
              </a:rPr>
              <a:t>내 보증금 비율로 본 역전세 경보 (시연 집 2채)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55800" y="40106600"/>
            <a:ext cx="4602480" cy="482600"/>
          </a:xfrm>
          <a:prstGeom prst="rect">
            <a:avLst/>
          </a:prstGeom>
          <a:solidFill>
            <a:srgbClr val="CFEAC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문제 없음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58280" y="40106600"/>
            <a:ext cx="2301239" cy="482600"/>
          </a:xfrm>
          <a:prstGeom prst="rect">
            <a:avLst/>
          </a:prstGeom>
          <a:solidFill>
            <a:srgbClr val="F7D77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주의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59520" y="40106600"/>
            <a:ext cx="2301240" cy="4826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경고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160760" y="40106600"/>
            <a:ext cx="2301239" cy="4826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위험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028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80%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5152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90%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276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61098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아파트 86.6%</a:t>
            </a:r>
          </a:p>
        </p:txBody>
      </p:sp>
      <p:sp>
        <p:nvSpPr>
          <p:cNvPr id="109" name="Isosceles Triangle 108"/>
          <p:cNvSpPr/>
          <p:nvPr/>
        </p:nvSpPr>
        <p:spPr>
          <a:xfrm rot="10800000">
            <a:off x="7937398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17152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빌라 95.1%</a:t>
            </a:r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9893452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955800" y="40995600"/>
            <a:ext cx="11684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비율 = (보증금 + 근저당) ÷ 추정 주택가격(공시가격 × 140%, 실거래가가 더 낮으면 그 값)</a:t>
            </a:r>
          </a:p>
        </p:txBody>
      </p:sp>
      <p:sp>
        <p:nvSpPr>
          <p:cNvPr id="113" name="앱 화면 판정 결과"/>
          <p:cNvSpPr/>
          <p:nvPr/>
        </p:nvSpPr>
        <p:spPr>
          <a:xfrm>
            <a:off x="15875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367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판정 결과</a:t>
            </a:r>
          </a:p>
        </p:txBody>
      </p:sp>
      <p:sp>
        <p:nvSpPr>
          <p:cNvPr id="115" name="앱 화면 역전세 경보"/>
          <p:cNvSpPr/>
          <p:nvPr/>
        </p:nvSpPr>
        <p:spPr>
          <a:xfrm>
            <a:off x="19558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050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역전세 경보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5800" y="415290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등기부 정확도는 파서를 만들며 맞춘 샘플 10건 기준입니다. 빌라 근저당 1,440만 원은 시연용 가상 값입니다.</a:t>
            </a:r>
          </a:p>
        </p:txBody>
      </p:sp>
      <p:sp>
        <p:nvSpPr>
          <p:cNvPr id="118" name="소제목 기존 서비스와 비교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421386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기존 서비스와 비교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119" name="소제목 비즈니스 모델·시장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3970000" y="42138600"/>
            <a:ext cx="965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비즈니스 모델·시장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graphicFrame>
        <p:nvGraphicFramePr>
          <p:cNvPr id="120" name="비교표"/>
          <p:cNvGraphicFramePr>
            <a:graphicFrameLocks noGrp="1"/>
          </p:cNvGraphicFramePr>
          <p:nvPr/>
        </p:nvGraphicFramePr>
        <p:xfrm>
          <a:off x="1955800" y="43154600"/>
          <a:ext cx="11684000" cy="3937000"/>
        </p:xfrm>
        <a:graphic>
          <a:graphicData uri="http://schemas.openxmlformats.org/drawingml/2006/table">
            <a:tbl>
              <a:tblPr firstRow="0" bandRow="0"/>
              <a:tblGrid>
                <a:gridCol w="2159000"/>
                <a:gridCol w="2921000"/>
                <a:gridCol w="2794000"/>
                <a:gridCol w="3810000"/>
              </a:tblGrid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HUG 안심전세앱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직방 지킴진단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전동기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쓰는 시점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전·보증 가입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 1회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계약 당일~만기 후 3개월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특약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맞춤 특약 제안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넣음/거절 기록 → 할 일 변경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날짜별 할 일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내 계약 날짜로 9종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가격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무료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1회 4,900원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확인 무료 · 패키지 9,900원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1955800" y="47142400"/>
            <a:ext cx="11684000" cy="355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※ 각 서비스 공개 자료와 직접 사용 기준 (2026년 10월)</a:t>
            </a:r>
          </a:p>
        </p:txBody>
      </p:sp>
      <p:sp>
        <p:nvSpPr>
          <p:cNvPr id="122" name="BM 1"/>
          <p:cNvSpPr/>
          <p:nvPr/>
        </p:nvSpPr>
        <p:spPr>
          <a:xfrm>
            <a:off x="14351000" y="431546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41500" y="431546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무료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027400" y="431546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계약 전 확인 — 등기부 판정·역전세 지표</a:t>
            </a:r>
          </a:p>
        </p:txBody>
      </p:sp>
      <p:sp>
        <p:nvSpPr>
          <p:cNvPr id="125" name="BM 2"/>
          <p:cNvSpPr/>
          <p:nvPr/>
        </p:nvSpPr>
        <p:spPr>
          <a:xfrm>
            <a:off x="14351000" y="439928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4541500" y="439928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9,900원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27400" y="439928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패키지(당일~만기 후 3개월), 다가구·단독 4,900원</a:t>
            </a:r>
          </a:p>
        </p:txBody>
      </p:sp>
      <p:sp>
        <p:nvSpPr>
          <p:cNvPr id="128" name="BM 3"/>
          <p:cNvSpPr/>
          <p:nvPr/>
        </p:nvSpPr>
        <p:spPr>
          <a:xfrm>
            <a:off x="14351000" y="448310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4541500" y="448310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B2G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027400" y="448310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지자체·대학 이용권 (1장 9,900원 기준)</a:t>
            </a:r>
          </a:p>
        </p:txBody>
      </p:sp>
      <p:sp>
        <p:nvSpPr>
          <p:cNvPr id="131" name="BM 4"/>
          <p:cNvSpPr/>
          <p:nvPr/>
        </p:nvSpPr>
        <p:spPr>
          <a:xfrm>
            <a:off x="14351000" y="456692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4541500" y="456692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시장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27400" y="456692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부산 전세 43,941건 중 1% ≈ 440건 (가설)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51000" y="46558200"/>
            <a:ext cx="9144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288D26"/>
                </a:solidFill>
              </a:rPr>
              <a:t xml:space="preserve">첫 고객  </a:t>
            </a:r>
            <a:r>
              <a:rPr sz="2200" b="1" i="0">
                <a:solidFill>
                  <a:srgbClr val="193B22"/>
                </a:solidFill>
              </a:rPr>
              <a:t>부산 20~30대 첫 전세 세입자 (대학·청년 주거 기관으로 유입)</a:t>
            </a:r>
          </a:p>
          <a:p>
            <a:pPr algn="l"/>
            <a:r>
              <a:rPr sz="2300" b="1" i="0">
                <a:solidFill>
                  <a:srgbClr val="288D26"/>
                </a:solidFill>
              </a:rPr>
              <a:t xml:space="preserve">확장  </a:t>
            </a:r>
            <a:r>
              <a:rPr sz="2200" b="1" i="0">
                <a:solidFill>
                  <a:srgbClr val="193B22"/>
                </a:solidFill>
              </a:rPr>
              <a:t>B2G 1곳 연 1,000장 ≈ 990만 원 → 수도권 약 47만 건</a:t>
            </a:r>
          </a:p>
        </p:txBody>
      </p:sp>
    </p:spTree>
    <p:extLst>
      <p:ext uri="{BB962C8B-B14F-4D97-AF65-F5344CB8AC3E}">
        <p14:creationId xmlns:p14="http://schemas.microsoft.com/office/powerpoint/2010/main" val="41338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396</Words>
  <Application>Microsoft Office PowerPoint</Application>
  <DocSecurity>0</DocSecurity>
  <PresentationFormat>사용자 지정</PresentationFormat>
  <Paragraphs>114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맑은 고딕</vt:lpstr>
      <vt:lpstr>에스코어 드림 9 Black</vt:lpstr>
      <vt:lpstr>Arial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win</cp:lastModifiedBy>
  <cp:revision>5</cp:revision>
  <dcterms:created xsi:type="dcterms:W3CDTF">2026-10-16T09:20:51Z</dcterms:created>
  <dcterms:modified xsi:type="dcterms:W3CDTF">2026-10-19T02:31:59Z</dcterms:modified>
</cp:coreProperties>
</file>