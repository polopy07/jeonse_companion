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25199975" cy="50399950"/>
  <p:notesSz cx="6858000" cy="9144000"/>
  <p:defaultTextStyle>
    <a:defPPr>
      <a:buNone/>
    </a:defPPr>
    <a:lvl1pPr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8B1032C-EA38-4F05-BA0D-38AFFFC7BED3}" styleName="밝은 스타일 3 - 강조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0" d="100"/>
          <a:sy n="20" d="100"/>
        </p:scale>
        <p:origin x="4764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>
            <a:extLst>
              <a:ext uri="{FF2B5EF4-FFF2-40B4-BE49-F238E27FC236}">
                <a16:creationId xmlns:a16="http://schemas.microsoft.com/office/drawing/2014/main" id="{EE6BC0B8-43BA-4587-BB22-3034E8C0857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0" y="0"/>
            <a:ext cx="25199975" cy="5039995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60A94-15AC-445B-88CB-963F881DEA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5C03C0-2F4F-4BF6-8F8C-AF9C6C1D3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3298A9-78B1-424A-BED4-E2D1EA2E2A01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72923D-BC9A-4508-A7CA-D510D6E6CF3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EBA240-D235-450E-A2FD-DE400D9832C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37032-478C-4C5D-9ABD-F3B6DFBB3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buNone/>
              <a:defRPr sz="16535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0EBAEF-EC6C-46F1-8110-6A0AD4B2E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>
                    <a:tint val="82000"/>
                  </a:schemeClr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82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82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E8EE94-65DC-4938-AC1B-3C28DDE380E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5115B9-CDCB-48D8-979C-7DD3FDF7D9D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B3024D-9D5C-42A7-8B5F-7B2CBDC9512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5964AB-1237-46FC-A3B8-4544CB4AC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7DBA2B-022B-4AD7-B5BC-24B36DF04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37305FB-768B-40BF-962C-6D96125054B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0C8B8B-0120-44FA-8219-1227428824CA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0854-134F-4FCF-B6A1-21CAB2BEBC2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DD5302-F383-405E-B35C-16A69C50F8C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42B4C-0844-48EF-A7D3-1F92D884B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F170D7-107A-417B-A524-91A4A24B8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37FE792-8F5A-48C0-B76C-53D78EF5BFA1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6175B4D-758E-45AC-A76B-4E6690153A6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4D9DDA-92CE-419B-806E-F6B5D5A9A347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29D8676-0A5D-454B-9AAF-56D95292FC0C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051534-19A2-4196-AD46-D7FBB7EE40C1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7ECEBD4-2E2B-42B2-8C24-40DB4D6C46B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06693D-60C3-4498-A5F1-DEAAE3F2FC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2E18C40-88BA-41E2-88BD-316C99BC2A4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E848111-5464-4FC9-8F0E-DB2CB5EFC40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096B90-F598-4D29-968D-8FDE9443D63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32BC6A-7FF1-4EE8-A11F-CEF3ACCF8902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66EF93A-FF69-4549-B9EB-B658AF7924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97EFAA-A1CA-4E67-A353-F94E25481AE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5B1388-3061-4042-8A3C-2EB5EF96F7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6757F-E856-4579-9E18-1269A17220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buNone/>
              <a:defRPr sz="8819"/>
            </a:lvl1pPr>
            <a:lvl2pPr>
              <a:buNone/>
              <a:defRPr sz="7717"/>
            </a:lvl2pPr>
            <a:lvl3pPr>
              <a:buNone/>
              <a:defRPr sz="6614"/>
            </a:lvl3pPr>
            <a:lvl4pPr>
              <a:buNone/>
              <a:defRPr sz="5512"/>
            </a:lvl4pPr>
            <a:lvl5pPr>
              <a:buNone/>
              <a:defRPr sz="5512"/>
            </a:lvl5pPr>
            <a:lvl6pPr>
              <a:buNone/>
              <a:defRPr sz="5512"/>
            </a:lvl6pPr>
            <a:lvl7pPr>
              <a:buNone/>
              <a:defRPr sz="5512"/>
            </a:lvl7pPr>
            <a:lvl8pPr>
              <a:buNone/>
              <a:defRPr sz="5512"/>
            </a:lvl8pPr>
            <a:lvl9pPr>
              <a:buNone/>
              <a:defRPr sz="5512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916623-CA0F-43C0-9E3A-62E02CDF39A2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F955309-CD48-4CB3-A711-04543F64D288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AD64C1-B834-4AAE-8E59-9BCC90A1AB5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EB765A-955F-4713-A629-990A18B7602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2B983-75D3-43A3-A444-175500C29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buNone/>
              <a:defRPr sz="8819"/>
            </a:lvl1pPr>
          </a:lstStyle>
          <a:p>
            <a:r>
              <a:t>마스터 제목 스타일 편집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83910D9-403F-47E2-A69A-79E3B63BF0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0BE9B02-B917-4556-81C9-CEB9D28E57A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>
              <a:buNone/>
            </a:pPr>
            <a:r>
              <a:t>마스터 텍스트 스타일을 편집하려면 클릭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476B5C-438C-4FFD-851F-6CEA70D0EB9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9E704F-2EC2-4FFC-BD10-CEF0FC0728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47D2B-DC37-425C-B943-0C1428F5238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F893C4-3DF3-4BFF-91D3-9F809F499E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272F1D-FC2C-4779-861F-F0A0D63CB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7862FB-228E-40E3-941A-88A726EE315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E9B996-BDA2-4FB5-A110-640F030F4AB9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B73AB-44FD-44E5-81A9-93E538806777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C18B2DE-156E-471B-8EDF-902C96814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t>마스터 제목 스타일 편집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696BE9-22C1-4668-B2DC-C9C8F7CA5F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078A5-56C9-4717-992B-611E1F927CE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52D0A5-110C-411B-BD5F-0756C0F0BE7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FCFE70-55E4-4FEC-A9E0-ECB9A1005F8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8203DCA-9940-43C4-9E50-4A34BDE669F6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E57EE8-0B47-4888-90EC-6BCCDC9ED9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마스터 제목 스타일 편집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A8C956-811A-45E7-A948-0A9EF3AF88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마스터 텍스트 스타일을 편집하려면 클릭</a:t>
            </a:r>
          </a:p>
          <a:p>
            <a:pPr lvl="1">
              <a:buNone/>
            </a:pPr>
            <a:r>
              <a:t>두 번째 수준</a:t>
            </a:r>
          </a:p>
          <a:p>
            <a:pPr lvl="2">
              <a:buNone/>
            </a:pPr>
            <a:r>
              <a:t>세 번째 수준</a:t>
            </a:r>
          </a:p>
          <a:p>
            <a:pPr lvl="3">
              <a:buNone/>
            </a:pPr>
            <a:r>
              <a:t>네 번째 수준</a:t>
            </a:r>
          </a:p>
          <a:p>
            <a:pPr lvl="4">
              <a:buNone/>
            </a:pPr>
            <a:r>
              <a:t>다섯 번째 수준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6B746-902F-4297-9415-493420DB7A46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A5D779-BE9D-4FDC-B110-A5ADA8610006}" type="datetimeFigureOut">
              <a:t>2026-10-19</a:t>
            </a:fld>
            <a:endParaRPr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F3C4D1-C099-4193-8807-9D51968E6CF9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278DA-990E-48B9-AB55-801580DEB861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3307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8203DCA-9940-43C4-9E50-4A34BDE669F6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2519995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629999" indent="-629999" algn="l" defTabSz="2519995">
        <a:lnSpc>
          <a:spcPct val="90000"/>
        </a:lnSpc>
        <a:spcBef>
          <a:spcPts val="2756"/>
        </a:spcBef>
        <a:buFont typeface="Arial"/>
        <a:buChar char="•"/>
        <a:defRPr sz="7717" kern="1200">
          <a:solidFill>
            <a:schemeClr val="tx1"/>
          </a:solidFill>
          <a:latin typeface="+mn-lt"/>
          <a:ea typeface="+mn-lt"/>
          <a:cs typeface="+mn-lt"/>
        </a:defRPr>
      </a:lvl1pPr>
      <a:lvl2pPr marL="188999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6614" kern="1200">
          <a:solidFill>
            <a:schemeClr val="tx1"/>
          </a:solidFill>
          <a:latin typeface="+mn-lt"/>
          <a:ea typeface="+mn-lt"/>
          <a:cs typeface="+mn-lt"/>
        </a:defRPr>
      </a:lvl2pPr>
      <a:lvl3pPr marL="314999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5512" kern="1200">
          <a:solidFill>
            <a:schemeClr val="tx1"/>
          </a:solidFill>
          <a:latin typeface="+mn-lt"/>
          <a:ea typeface="+mn-lt"/>
          <a:cs typeface="+mn-lt"/>
        </a:defRPr>
      </a:lvl3pPr>
      <a:lvl4pPr marL="440999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66998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929986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8189984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9449981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709979" indent="-629999" algn="l" defTabSz="2519995">
        <a:lnSpc>
          <a:spcPct val="90000"/>
        </a:lnSpc>
        <a:spcBef>
          <a:spcPts val="1378"/>
        </a:spcBef>
        <a:buFont typeface="Arial"/>
        <a:buChar char="•"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1pPr>
      <a:lvl2pPr marL="125999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2pPr>
      <a:lvl3pPr marL="251999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3pPr>
      <a:lvl4pPr marL="377999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4pPr>
      <a:lvl5pPr marL="503999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5pPr>
      <a:lvl6pPr marL="6299987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6pPr>
      <a:lvl7pPr marL="7559985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7pPr>
      <a:lvl8pPr marL="8819982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8pPr>
      <a:lvl9pPr marL="10079980" algn="l" defTabSz="2519995">
        <a:buNone/>
        <a:defRPr sz="4961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E4CAE4D-B93C-5B7F-4753-E6960337DEA7}"/>
              </a:ext>
            </a:extLst>
          </p:cNvPr>
          <p:cNvSpPr>
            <a:spLocks noGrp="1"/>
          </p:cNvSpPr>
          <p:nvPr/>
        </p:nvSpPr>
        <p:spPr>
          <a:xfrm>
            <a:off x="1727654" y="4565537"/>
            <a:ext cx="4092121" cy="622413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2400" b="1">
                <a:solidFill>
                  <a:schemeClr val="bg1"/>
                </a:solidFill>
              </a:rPr>
              <a:t>프로젝트명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4889FA6-79CC-0748-672B-CA75A6939ED5}"/>
              </a:ext>
            </a:extLst>
          </p:cNvPr>
          <p:cNvSpPr>
            <a:spLocks noGrp="1"/>
          </p:cNvSpPr>
          <p:nvPr/>
        </p:nvSpPr>
        <p:spPr>
          <a:xfrm>
            <a:off x="2473323" y="5854587"/>
            <a:ext cx="20253328" cy="137352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0000" b="1" i="0">
                <a:gradFill>
                  <a:gsLst>
                    <a:gs pos="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  <a:latin typeface="맑은 고딕"/>
                <a:ea typeface="맑은 고딕"/>
                <a:cs typeface="맑은 고딕"/>
              </a:rPr>
              <a:t>전동기 · 전세동행기록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8DD7156-CCC7-8E70-0D95-8D735CA5FE0E}"/>
              </a:ext>
            </a:extLst>
          </p:cNvPr>
          <p:cNvSpPr>
            <a:spLocks noGrp="1"/>
          </p:cNvSpPr>
          <p:nvPr/>
        </p:nvSpPr>
        <p:spPr>
          <a:xfrm>
            <a:off x="2473323" y="7446168"/>
            <a:ext cx="20253328" cy="608579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3800" i="0" b="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“계약 당일부터 보증금을 돌려받을 때까지, 내 계약에 맞춰 챙겨 주는 전세 동행 서비스”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AAE6ABC-3930-99E4-78C4-E5ED7DBA600C}"/>
              </a:ext>
            </a:extLst>
          </p:cNvPr>
          <p:cNvSpPr>
            <a:spLocks noGrp="1"/>
          </p:cNvSpPr>
          <p:nvPr/>
        </p:nvSpPr>
        <p:spPr>
          <a:xfrm>
            <a:off x="1825623" y="9443148"/>
            <a:ext cx="15525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044EEC8-7D19-3E33-8403-B05E6D795AEA}"/>
              </a:ext>
            </a:extLst>
          </p:cNvPr>
          <p:cNvSpPr>
            <a:spLocks noGrp="1"/>
          </p:cNvSpPr>
          <p:nvPr/>
        </p:nvSpPr>
        <p:spPr>
          <a:xfrm>
            <a:off x="1824035" y="11135066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팀원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825623" y="10105929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전동기</a:t>
            </a:r>
          </a:p>
        </p:txBody>
      </p:sp>
      <p:sp>
        <p:nvSpPr>
          <p:cNvPr id="21" name="사각형: 잘린 위쪽 모서리 20">
            <a:extLst>
              <a:ext uri="{FF2B5EF4-FFF2-40B4-BE49-F238E27FC236}">
                <a16:creationId xmlns:a16="http://schemas.microsoft.com/office/drawing/2014/main" id="{BBA1C118-1650-79CF-7D0A-4436592A06FC}"/>
              </a:ext>
            </a:extLst>
          </p:cNvPr>
          <p:cNvSpPr>
            <a:spLocks noGrp="1"/>
          </p:cNvSpPr>
          <p:nvPr/>
        </p:nvSpPr>
        <p:spPr>
          <a:xfrm>
            <a:off x="1115823" y="5211083"/>
            <a:ext cx="22968329" cy="3440792"/>
          </a:xfrm>
          <a:prstGeom prst="snip2SameRect">
            <a:avLst>
              <a:gd name="adj1" fmla="val 9145"/>
              <a:gd name="adj2" fmla="val 9193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3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115824" y="9126380"/>
            <a:ext cx="12040669" cy="5450830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D9D366D-B7C0-57FC-3ADC-A4A8D3C31F54}"/>
              </a:ext>
            </a:extLst>
          </p:cNvPr>
          <p:cNvSpPr>
            <a:spLocks noGrp="1"/>
          </p:cNvSpPr>
          <p:nvPr/>
        </p:nvSpPr>
        <p:spPr>
          <a:xfrm>
            <a:off x="3121024" y="891540"/>
            <a:ext cx="18957926" cy="26768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AI·SW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신기술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3EX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전공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endParaRPr lang="en-US"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  <a:p>
            <a:pPr algn="ctr">
              <a:buNone/>
            </a:pP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프로젝트</a:t>
            </a:r>
            <a:r>
              <a:rPr sz="11000" b="1" dirty="0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 </a:t>
            </a:r>
            <a:r>
              <a:rPr sz="11000" b="1" dirty="0" err="1">
                <a:solidFill>
                  <a:schemeClr val="bg1"/>
                </a:solidFill>
                <a:latin typeface="에스코어 드림 9 Black"/>
                <a:ea typeface="에스코어 드림 9 Black"/>
                <a:cs typeface="에스코어 드림 9 Black"/>
              </a:rPr>
              <a:t>발표회</a:t>
            </a:r>
            <a:endParaRPr sz="11000" b="1" dirty="0">
              <a:solidFill>
                <a:schemeClr val="bg1"/>
              </a:solidFill>
              <a:latin typeface="에스코어 드림 9 Black"/>
              <a:ea typeface="에스코어 드림 9 Black"/>
              <a:cs typeface="에스코어 드림 9 Black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C59D89C-6DE2-B1F2-83AF-CEE1CA096180}"/>
              </a:ext>
            </a:extLst>
          </p:cNvPr>
          <p:cNvSpPr>
            <a:spLocks noGrp="1"/>
          </p:cNvSpPr>
          <p:nvPr/>
        </p:nvSpPr>
        <p:spPr>
          <a:xfrm>
            <a:off x="9051015" y="9443148"/>
            <a:ext cx="2593977" cy="40005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3200">
                <a:solidFill>
                  <a:schemeClr val="bg1">
                    <a:lumMod val="75000"/>
                  </a:schemeClr>
                </a:solidFill>
                <a:latin typeface="맑은 고딕"/>
                <a:ea typeface="맑은 고딕"/>
                <a:cs typeface="맑은 고딕"/>
              </a:rPr>
              <a:t>지도교수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flipH="1">
            <a:off x="8506821" y="9373839"/>
            <a:ext cx="28800" cy="1433670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43A27A-448D-77ED-D5AB-C41EE7D79BA3}"/>
              </a:ext>
            </a:extLst>
          </p:cNvPr>
          <p:cNvSpPr>
            <a:spLocks noGrp="1"/>
          </p:cNvSpPr>
          <p:nvPr/>
        </p:nvSpPr>
        <p:spPr>
          <a:xfrm>
            <a:off x="9051015" y="10105929"/>
            <a:ext cx="3979187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r>
              <a:rPr sz="5000" b="1" i="0">
                <a:latin typeface="맑은 고딕"/>
                <a:ea typeface="맑은 고딕"/>
                <a:cs typeface="맑은 고딕"/>
              </a:rPr>
              <a:t>○○○</a:t>
            </a:r>
          </a:p>
        </p:txBody>
      </p:sp>
      <p:sp>
        <p:nvSpPr>
          <p:cNvPr id="33" name="사각형: 잘린 위쪽 모서리 32">
            <a:extLst>
              <a:ext uri="{FF2B5EF4-FFF2-40B4-BE49-F238E27FC236}">
                <a16:creationId xmlns:a16="http://schemas.microsoft.com/office/drawing/2014/main" id="{C626C3AE-3093-BD9D-72B6-CB3997022CE7}"/>
              </a:ext>
            </a:extLst>
          </p:cNvPr>
          <p:cNvSpPr>
            <a:spLocks noGrp="1"/>
          </p:cNvSpPr>
          <p:nvPr/>
        </p:nvSpPr>
        <p:spPr>
          <a:xfrm>
            <a:off x="1115823" y="15051715"/>
            <a:ext cx="22968329" cy="33251827"/>
          </a:xfrm>
          <a:prstGeom prst="snip2SameRect">
            <a:avLst>
              <a:gd name="adj1" fmla="val 1350"/>
              <a:gd name="adj2" fmla="val 1872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8" name="사각형: 잘린 위쪽 모서리 22">
            <a:extLst>
              <a:ext uri="{FF2B5EF4-FFF2-40B4-BE49-F238E27FC236}">
                <a16:creationId xmlns:a16="http://schemas.microsoft.com/office/drawing/2014/main" id="{8BF01544-464E-3DF0-1DE5-FF5B1FBF025D}"/>
              </a:ext>
            </a:extLst>
          </p:cNvPr>
          <p:cNvSpPr>
            <a:spLocks noGrp="1"/>
          </p:cNvSpPr>
          <p:nvPr/>
        </p:nvSpPr>
        <p:spPr>
          <a:xfrm>
            <a:off x="13671887" y="9116071"/>
            <a:ext cx="10412265" cy="5461139"/>
          </a:xfrm>
          <a:prstGeom prst="snip2SameRect">
            <a:avLst>
              <a:gd name="adj1" fmla="val 13590"/>
              <a:gd name="adj2" fmla="val 12426"/>
            </a:avLst>
          </a:prstGeom>
          <a:noFill/>
          <a:ln w="28575">
            <a:gradFill>
              <a:gsLst>
                <a:gs pos="0">
                  <a:srgbClr val="23901B"/>
                </a:gs>
                <a:gs pos="100000">
                  <a:srgbClr val="82E959"/>
                </a:gs>
              </a:gsLst>
              <a:lin ang="0" scaled="0"/>
            </a:gra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97D9EEA-D381-A6F8-A1FB-8A6B7A992195}"/>
              </a:ext>
            </a:extLst>
          </p:cNvPr>
          <p:cNvSpPr>
            <a:spLocks noGrp="1"/>
          </p:cNvSpPr>
          <p:nvPr/>
        </p:nvSpPr>
        <p:spPr>
          <a:xfrm>
            <a:off x="15795117" y="11535116"/>
            <a:ext cx="6165804" cy="75916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buNone/>
            </a:pPr>
            <a:r>
              <a:rPr lang="ko-KR" altLang="en-US" sz="5000" b="1" i="1" dirty="0">
                <a:latin typeface="맑은 고딕"/>
                <a:ea typeface="맑은 고딕"/>
                <a:cs typeface="맑은 고딕"/>
              </a:rPr>
              <a:t>팀 그룹 </a:t>
            </a:r>
            <a:r>
              <a:rPr sz="5000" b="1" i="1" dirty="0" err="1">
                <a:latin typeface="맑은 고딕"/>
                <a:ea typeface="맑은 고딕"/>
                <a:cs typeface="맑은 고딕"/>
              </a:rPr>
              <a:t>사진</a:t>
            </a:r>
            <a:endParaRPr sz="5000" b="1" i="1" dirty="0">
              <a:latin typeface="맑은 고딕"/>
              <a:ea typeface="맑은 고딕"/>
              <a:cs typeface="맑은 고딕"/>
            </a:endParaRP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CC883AA9-0A18-4B33-852E-F7725CF2224A}"/>
              </a:ext>
            </a:extLst>
          </p:cNvPr>
          <p:cNvGraphicFramePr/>
          <p:nvPr/>
        </p:nvGraphicFramePr>
        <p:xfrm>
          <a:off x="1824035" y="11737967"/>
          <a:ext cx="10600194" cy="2743200"/>
        </p:xfrm>
        <a:graphic>
          <a:graphicData uri="http://schemas.openxmlformats.org/drawingml/2006/table">
            <a:tbl>
              <a:tblPr firstRow="1" bandRow="1">
                <a:tableStyleId>{E8B1032C-EA38-4F05-BA0D-38AFFFC7BED3}</a:tableStyleId>
              </a:tblPr>
              <a:tblGrid>
                <a:gridCol w="353339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3050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7362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03012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학과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이름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>
                          <a:solidFill>
                            <a:schemeClr val="bg1"/>
                          </a:solidFill>
                          <a:latin typeface="+mn-ea"/>
                          <a:ea typeface="+mn-ea"/>
                          <a:cs typeface="+mn-ea"/>
                        </a:rPr>
                        <a:t>역할</a:t>
                      </a:r>
                    </a:p>
                  </a:txBody>
                  <a:tcPr>
                    <a:solidFill>
                      <a:schemeClr val="accent6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황웅재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PO · 백엔드·규칙 엔진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2009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○○학과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배승환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3000" b="1" i="0">
                          <a:solidFill>
                            <a:srgbClr val="000000"/>
                          </a:solidFill>
                        </a:rPr>
                        <a:t>PM · 앱·검증</a:t>
                      </a:r>
                      <a:endParaRPr sz="3000">
                        <a:latin typeface="+mn-ea"/>
                        <a:ea typeface="+mn-ea"/>
                        <a:cs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BCB43DBC-8080-408F-B64F-84EF01CCC80E}"/>
              </a:ext>
            </a:extLst>
          </p:cNvPr>
          <p:cNvSpPr>
            <a:spLocks noGrp="1"/>
          </p:cNvSpPr>
          <p:nvPr/>
        </p:nvSpPr>
        <p:spPr>
          <a:xfrm>
            <a:off x="1727653" y="16307924"/>
            <a:ext cx="219582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1" i="0" dirty="0">
                <a:latin typeface="+mn-ea"/>
                <a:ea typeface="+mn-ea"/>
                <a:cs typeface="+mn-ea"/>
              </a:rPr>
              <a:t>계약 전 점검 서비스는 많지만, 계약 뒤 2년의 기한은 세입자 혼자 챙겨야 합니다. 전동기는 등기부 요약으로 위험을 판정하고, 계약 당일 특약 결과까지 반영해 내 계약에 맞는 할 일을 만듭니다.</a:t>
            </a:r>
            <a:endParaRPr sz="4000" b="1" i="0" dirty="0">
              <a:latin typeface="+mn-ea"/>
              <a:ea typeface="+mn-ea"/>
              <a:cs typeface="+mn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8CF6888F-04F6-4BFD-B74B-173FCBA6D616}"/>
              </a:ext>
            </a:extLst>
          </p:cNvPr>
          <p:cNvSpPr>
            <a:spLocks noGrp="1"/>
          </p:cNvSpPr>
          <p:nvPr/>
        </p:nvSpPr>
        <p:spPr>
          <a:xfrm>
            <a:off x="1415845" y="15388884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프로젝트 소개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15844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주요 기능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91F2074B-E09C-4F8B-B742-E9CD3DBCEDED}"/>
              </a:ext>
            </a:extLst>
          </p:cNvPr>
          <p:cNvSpPr>
            <a:spLocks noGrp="1"/>
          </p:cNvSpPr>
          <p:nvPr/>
        </p:nvSpPr>
        <p:spPr>
          <a:xfrm>
            <a:off x="1824035" y="19249937"/>
            <a:ext cx="12598400" cy="707886"/>
          </a:xfrm>
          <a:prstGeom prst="rect">
            <a:avLst/>
          </a:prstGeom>
        </p:spPr>
        <p:txBody>
          <a:bodyPr>
            <a:spAutoFit/>
          </a:bodyPr>
          <a:lstStyle/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내 계약 날짜로 할 일 9종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증빙 사진 1장 전세 기록함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보증금 비율 역전세 경보</a:t>
            </a:r>
          </a:p>
          <a:p>
            <a:pPr marL="457200" indent="-457200">
              <a:buFont typeface="Arial"/>
              <a:buChar char="•"/>
            </a:pPr>
            <a:r>
              <a:rPr lang="ko-KR" altLang="en-US" sz="3800" b="0" i="0" dirty="0">
                <a:latin typeface="+mn-ea"/>
                <a:cs typeface="+mn-ea"/>
              </a:rPr>
              <a:t>등기부 판정·계약 당일 체크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BD3448B7-8C9C-4122-8956-BA98395B6B66}"/>
              </a:ext>
            </a:extLst>
          </p:cNvPr>
          <p:cNvSpPr>
            <a:spLocks noGrp="1"/>
          </p:cNvSpPr>
          <p:nvPr/>
        </p:nvSpPr>
        <p:spPr>
          <a:xfrm>
            <a:off x="12424229" y="18105868"/>
            <a:ext cx="5633883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기대 효과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A54F8BF7-4EC2-411B-90FF-02014A154B56}"/>
              </a:ext>
            </a:extLst>
          </p:cNvPr>
          <p:cNvSpPr>
            <a:spLocks noGrp="1"/>
          </p:cNvSpPr>
          <p:nvPr/>
        </p:nvSpPr>
        <p:spPr>
          <a:xfrm>
            <a:off x="13030202" y="19042038"/>
            <a:ext cx="1065570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3600" b="0" i="0" dirty="0">
                <a:latin typeface="+mn-ea"/>
                <a:cs typeface="+mn-ea"/>
              </a:rPr>
              <a:t>첫 전세 세입자가 전입신고·반환보증 기한을 놓쳐 보증금을 잃는 일을 줄입니다. 부산에서 검증한 뒤 지자체·대학 이용권(B2G)으로 넓힙니다.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87939CA7-F97A-89C6-4CB4-91770981B80A}"/>
              </a:ext>
            </a:extLst>
          </p:cNvPr>
          <p:cNvSpPr>
            <a:spLocks noGrp="1"/>
          </p:cNvSpPr>
          <p:nvPr/>
        </p:nvSpPr>
        <p:spPr>
          <a:xfrm rot="16200000">
            <a:off x="12626772" y="11067450"/>
            <a:ext cx="45719" cy="22072556"/>
          </a:xfrm>
          <a:prstGeom prst="rect">
            <a:avLst/>
          </a:prstGeom>
          <a:gradFill>
            <a:gsLst>
              <a:gs pos="0">
                <a:srgbClr val="23901B"/>
              </a:gs>
              <a:gs pos="100000">
                <a:srgbClr val="82E959"/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buNone/>
            </a:pPr>
            <a:endParaRPr/>
          </a:p>
        </p:txBody>
      </p:sp>
      <p:sp>
        <p:nvSpPr>
          <p:cNvPr id="35" name="소제목 서비스 흐름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2631400"/>
            <a:ext cx="1016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서비스 흐름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6" name="소제목 시스템 구성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2344400" y="22631400"/>
            <a:ext cx="11049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시스템 구성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37" name="흐름 1"/>
          <p:cNvSpPr/>
          <p:nvPr/>
        </p:nvSpPr>
        <p:spPr>
          <a:xfrm>
            <a:off x="1955800" y="2364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84400" y="2364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01  계약 전 확인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651500" y="2364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등기부 요약 PDF·보증금 입력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→ 3단계 판정·역전세 지표 (무료)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29000" y="2466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1" name="흐름 2"/>
          <p:cNvSpPr/>
          <p:nvPr/>
        </p:nvSpPr>
        <p:spPr>
          <a:xfrm>
            <a:off x="1955800" y="2491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184400" y="2491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02  계약 당일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51500" y="2491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소유자·대리인·계좌 명의 확인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특약 넣음 / 거절당함 기록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29000" y="2593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5" name="흐름 3"/>
          <p:cNvSpPr/>
          <p:nvPr/>
        </p:nvSpPr>
        <p:spPr>
          <a:xfrm>
            <a:off x="1955800" y="2618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184400" y="2618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03  계약~입주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1500" y="2618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날짜 입력 → 맞춤 할 일 9종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증빙 사진은 전세 기록함에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27203400"/>
            <a:ext cx="762000" cy="254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288D26"/>
                </a:solidFill>
              </a:rPr>
              <a:t>↓</a:t>
            </a:r>
          </a:p>
        </p:txBody>
      </p:sp>
      <p:sp>
        <p:nvSpPr>
          <p:cNvPr id="49" name="흐름 4"/>
          <p:cNvSpPr/>
          <p:nvPr/>
        </p:nvSpPr>
        <p:spPr>
          <a:xfrm>
            <a:off x="1955800" y="27457400"/>
            <a:ext cx="9652000" cy="101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184400" y="27457400"/>
            <a:ext cx="3429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3000" b="1" i="0">
                <a:solidFill>
                  <a:srgbClr val="288D26"/>
                </a:solidFill>
              </a:rPr>
              <a:t>04  거주·만기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51500" y="27457400"/>
            <a:ext cx="5842000" cy="1016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역전세 경보 재계산</a:t>
            </a:r>
          </a:p>
          <a:p>
            <a:pPr algn="l"/>
            <a:r>
              <a:rPr sz="2300" b="0" i="0">
                <a:solidFill>
                  <a:srgbClr val="193B22"/>
                </a:solidFill>
              </a:rPr>
              <a:t>보증금 반환 확인·다음 집 갈아타기</a:t>
            </a:r>
          </a:p>
        </p:txBody>
      </p:sp>
      <p:sp>
        <p:nvSpPr>
          <p:cNvPr id="52" name="시스템 앱"/>
          <p:cNvSpPr/>
          <p:nvPr/>
        </p:nvSpPr>
        <p:spPr>
          <a:xfrm>
            <a:off x="12509500" y="25298400"/>
            <a:ext cx="2540000" cy="1524000"/>
          </a:xfrm>
          <a:prstGeom prst="roundRect">
            <a:avLst>
              <a:gd name="adj" fmla="val 8000"/>
            </a:avLst>
          </a:prstGeom>
          <a:solidFill>
            <a:srgbClr val="EEF8E9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800" b="1" i="0">
                <a:solidFill>
                  <a:srgbClr val="288D26"/>
                </a:solidFill>
              </a:rPr>
              <a:t>앱 (Expo)</a:t>
            </a:r>
          </a:p>
          <a:p>
            <a:pPr algn="ctr"/>
            <a:r>
              <a:rPr sz="2000" b="0" i="0">
                <a:solidFill>
                  <a:srgbClr val="193B22"/>
                </a:solidFill>
              </a:rPr>
              <a:t>웹·iOS·Android</a:t>
            </a:r>
          </a:p>
        </p:txBody>
      </p:sp>
      <p:sp>
        <p:nvSpPr>
          <p:cNvPr id="53" name="시스템 서버"/>
          <p:cNvSpPr/>
          <p:nvPr/>
        </p:nvSpPr>
        <p:spPr>
          <a:xfrm>
            <a:off x="15684500" y="25171400"/>
            <a:ext cx="3429000" cy="1778000"/>
          </a:xfrm>
          <a:prstGeom prst="roundRect">
            <a:avLst>
              <a:gd name="adj" fmla="val 8000"/>
            </a:avLst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3000" b="1" i="0">
                <a:solidFill>
                  <a:srgbClr val="FFFFFF"/>
                </a:solidFill>
              </a:rPr>
              <a:t>FastAPI 서버</a:t>
            </a:r>
          </a:p>
          <a:p>
            <a:pPr algn="ctr"/>
            <a:r>
              <a:rPr sz="2100" b="0" i="0">
                <a:solidFill>
                  <a:srgbClr val="FFFFFF"/>
                </a:solidFill>
              </a:rPr>
              <a:t>판정·할 일·경보 엔진</a:t>
            </a:r>
          </a:p>
        </p:txBody>
      </p:sp>
      <p:sp>
        <p:nvSpPr>
          <p:cNvPr id="54" name="시스템 규칙 파일(YAML) 7종"/>
          <p:cNvSpPr/>
          <p:nvPr/>
        </p:nvSpPr>
        <p:spPr>
          <a:xfrm>
            <a:off x="19812000" y="2364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규칙 파일(YAML) 7종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판정·특약·할 일·보증기관</a:t>
            </a:r>
          </a:p>
        </p:txBody>
      </p:sp>
      <p:cxnSp>
        <p:nvCxnSpPr>
          <p:cNvPr id="55" name="Connector 54"/>
          <p:cNvCxnSpPr/>
          <p:nvPr/>
        </p:nvCxnSpPr>
        <p:spPr>
          <a:xfrm flipV="1">
            <a:off x="19113500" y="24155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6" name="시스템 등기부 요약 PDF"/>
          <p:cNvSpPr/>
          <p:nvPr/>
        </p:nvSpPr>
        <p:spPr>
          <a:xfrm>
            <a:off x="19812000" y="2491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등기부 요약 PDF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pdfplumber 규칙 기반 파서</a:t>
            </a:r>
          </a:p>
        </p:txBody>
      </p:sp>
      <p:cxnSp>
        <p:nvCxnSpPr>
          <p:cNvPr id="57" name="Connector 56"/>
          <p:cNvCxnSpPr/>
          <p:nvPr/>
        </p:nvCxnSpPr>
        <p:spPr>
          <a:xfrm flipV="1">
            <a:off x="19113500" y="25425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58" name="시스템 공공데이터포털"/>
          <p:cNvSpPr/>
          <p:nvPr/>
        </p:nvSpPr>
        <p:spPr>
          <a:xfrm>
            <a:off x="19812000" y="2618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공공데이터포털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아파트·연립다세대 실거래가 API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19113500" y="26060400"/>
            <a:ext cx="698500" cy="63500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</a:ln>
        </p:spPr>
      </p:cxnSp>
      <p:sp>
        <p:nvSpPr>
          <p:cNvPr id="60" name="시스템 알림"/>
          <p:cNvSpPr/>
          <p:nvPr/>
        </p:nvSpPr>
        <p:spPr>
          <a:xfrm>
            <a:off x="19812000" y="27457400"/>
            <a:ext cx="3683000" cy="101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AAD49D"/>
            </a:solidFill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300" b="1" i="0">
                <a:solidFill>
                  <a:srgbClr val="288D26"/>
                </a:solidFill>
              </a:rPr>
              <a:t>알림</a:t>
            </a:r>
          </a:p>
          <a:p>
            <a:pPr algn="ctr"/>
            <a:r>
              <a:rPr sz="1800" b="0" i="0">
                <a:solidFill>
                  <a:srgbClr val="193B22"/>
                </a:solidFill>
              </a:rPr>
              <a:t>이메일·ICS 기한표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19113500" y="26060400"/>
            <a:ext cx="698500" cy="1905000"/>
          </a:xfrm>
          <a:prstGeom prst="line">
            <a:avLst/>
          </a:prstGeom>
          <a:ln w="31750">
            <a:solidFill>
              <a:srgbClr val="288D26"/>
            </a:solidFill>
            <a:tailEnd type="triangle" w="med" len="med"/>
          </a:ln>
        </p:spPr>
      </p:cxnSp>
      <p:cxnSp>
        <p:nvCxnSpPr>
          <p:cNvPr id="62" name="Connector 61"/>
          <p:cNvCxnSpPr/>
          <p:nvPr/>
        </p:nvCxnSpPr>
        <p:spPr>
          <a:xfrm>
            <a:off x="15049500" y="26060400"/>
            <a:ext cx="635000" cy="0"/>
          </a:xfrm>
          <a:prstGeom prst="line">
            <a:avLst/>
          </a:prstGeom>
          <a:ln w="31750">
            <a:solidFill>
              <a:srgbClr val="288D26"/>
            </a:solidFill>
            <a:headEnd type="triangle" w="med" len="med"/>
            <a:tailEnd type="triangle" w="med" len="med"/>
          </a:ln>
        </p:spPr>
      </p:cxnSp>
      <p:sp>
        <p:nvSpPr>
          <p:cNvPr id="63" name="TextBox 62"/>
          <p:cNvSpPr txBox="1"/>
          <p:nvPr/>
        </p:nvSpPr>
        <p:spPr>
          <a:xfrm>
            <a:off x="12509500" y="23876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판정 기준·연동 규칙·할 일 9종을 코드가 아닌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규칙 파일로 두어, 기준이 바뀌면 파일만 고칩니다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509500" y="27178000"/>
            <a:ext cx="6604000" cy="1143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가상 날짜로 2년 일정을 5분 안에 시연하고,</a:t>
            </a:r>
          </a:p>
          <a:p>
            <a:pPr algn="l"/>
            <a:r>
              <a:rPr sz="1900" b="0" i="0">
                <a:solidFill>
                  <a:srgbClr val="68746A"/>
                </a:solidFill>
              </a:rPr>
              <a:t>반환보증 기한은 이메일로 알립니다</a:t>
            </a:r>
          </a:p>
        </p:txBody>
      </p:sp>
      <p:sp>
        <p:nvSpPr>
          <p:cNvPr id="65" name="소제목 핵심 장면 · 계약 당일 실제로 넣은 특약에 맞춰 할 일이 바뀝니다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28727400"/>
            <a:ext cx="2159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핵심 장면 · 계약 당일 실제로 넣은 특약에 맞춰 할 일이 바뀝니다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1955800" y="29654500"/>
            <a:ext cx="11684000" cy="457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200" b="0" i="0">
                <a:solidFill>
                  <a:srgbClr val="193B22"/>
                </a:solidFill>
              </a:rPr>
              <a:t>시연 빌라에 </a:t>
            </a:r>
            <a:r>
              <a:rPr sz="2200" b="1" i="0">
                <a:solidFill>
                  <a:srgbClr val="193B22"/>
                </a:solidFill>
              </a:rPr>
              <a:t>‘잔금일 다음 날까지 담보 설정 금지’</a:t>
            </a:r>
            <a:r>
              <a:rPr sz="2200" b="0" i="0">
                <a:solidFill>
                  <a:srgbClr val="193B22"/>
                </a:solidFill>
              </a:rPr>
              <a:t> 특약을 넣었을 때와 거절당했을 때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9558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2095500" y="30226000"/>
            <a:ext cx="5054600" cy="609600"/>
          </a:xfrm>
          <a:prstGeom prst="rect">
            <a:avLst/>
          </a:prstGeom>
          <a:solidFill>
            <a:srgbClr val="288D26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넣음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860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1   반환보증 가입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2860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마감 전 재알림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2860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갱신·이사 의사 통보 안내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8   전입신고 (잔금일)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352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기록함에 ‘특약이 보이는 계약서 사진’을 필수 서류로 추가합니다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289800" y="32131000"/>
            <a:ext cx="838200" cy="762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4400" b="1" i="0">
                <a:solidFill>
                  <a:srgbClr val="288D26"/>
                </a:solidFill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28000" y="30378400"/>
            <a:ext cx="5334000" cy="4318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9050">
            <a:solidFill>
              <a:srgbClr val="AAD49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267700" y="30226000"/>
            <a:ext cx="5054600" cy="6096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700" b="1" i="0">
                <a:solidFill>
                  <a:srgbClr val="FFFFFF"/>
                </a:solidFill>
              </a:rPr>
              <a:t>특약 거절당함</a:t>
            </a:r>
          </a:p>
        </p:txBody>
      </p:sp>
      <p:sp>
        <p:nvSpPr>
          <p:cNvPr id="78" name="Rectangle 77"/>
          <p:cNvSpPr/>
          <p:nvPr/>
        </p:nvSpPr>
        <p:spPr>
          <a:xfrm>
            <a:off x="8305800" y="30988000"/>
            <a:ext cx="4978400" cy="482600"/>
          </a:xfrm>
          <a:prstGeom prst="rect">
            <a:avLst/>
          </a:prstGeom>
          <a:solidFill>
            <a:srgbClr val="FDEC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458200" y="309626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C0392B"/>
                </a:solidFill>
              </a:rPr>
              <a:t>1   전입신고 (잔금일) 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458200" y="314960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2   반환보증 가입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458200" y="320294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3   반환보증 마감 전 재알림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458200" y="325628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0" i="0">
                <a:solidFill>
                  <a:srgbClr val="193B22"/>
                </a:solidFill>
              </a:rPr>
              <a:t>4   갱신·이사 의사 통보 안내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8458200" y="33096200"/>
            <a:ext cx="4826000" cy="5334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193B22"/>
                </a:solidFill>
              </a:rPr>
              <a:t>⋮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407400" y="33705800"/>
            <a:ext cx="4826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1900" b="0" i="0">
                <a:solidFill>
                  <a:srgbClr val="68746A"/>
                </a:solidFill>
              </a:rPr>
              <a:t>잔금 당일 설정된 담보는 재비교로 못 잡으니, 당일 전입신고로 대항력을 확보하라고 안내</a:t>
            </a:r>
          </a:p>
        </p:txBody>
      </p:sp>
      <p:sp>
        <p:nvSpPr>
          <p:cNvPr id="85" name="앱 화면 계약 당일 체크"/>
          <p:cNvSpPr/>
          <p:nvPr/>
        </p:nvSpPr>
        <p:spPr>
          <a:xfrm>
            <a:off x="15875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5367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계약 당일 체크</a:t>
            </a:r>
          </a:p>
        </p:txBody>
      </p:sp>
      <p:sp>
        <p:nvSpPr>
          <p:cNvPr id="87" name="앱 화면 바뀐 할 일 목록"/>
          <p:cNvSpPr/>
          <p:nvPr/>
        </p:nvSpPr>
        <p:spPr>
          <a:xfrm>
            <a:off x="19558000" y="297180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9050000" y="339852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바뀐 할 일 목록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955800" y="348234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시연 빌라(보증금 1억 4천만 원, 내 보증금 비율 95.1%)를 할 일 엔진에 넣어 나온 실제 순서입니다.</a:t>
            </a:r>
          </a:p>
        </p:txBody>
      </p:sp>
      <p:sp>
        <p:nvSpPr>
          <p:cNvPr id="90" name="소제목 검증 결과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354330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검증 결과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91" name="검증 등기부 요약 추출 정확도"/>
          <p:cNvSpPr/>
          <p:nvPr/>
        </p:nvSpPr>
        <p:spPr>
          <a:xfrm>
            <a:off x="19558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9558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100%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0574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등기부 요약 추출 정확도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샘플 10건 112/112 항목</a:t>
            </a:r>
          </a:p>
        </p:txBody>
      </p:sp>
      <p:sp>
        <p:nvSpPr>
          <p:cNvPr id="94" name="검증 기한 계산 시나리오"/>
          <p:cNvSpPr/>
          <p:nvPr/>
        </p:nvSpPr>
        <p:spPr>
          <a:xfrm>
            <a:off x="59182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9182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10/10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0198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기한 계산 시나리오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모두 일치</a:t>
            </a:r>
          </a:p>
        </p:txBody>
      </p:sp>
      <p:sp>
        <p:nvSpPr>
          <p:cNvPr id="97" name="검증 시연 집 판정·경보"/>
          <p:cNvSpPr/>
          <p:nvPr/>
        </p:nvSpPr>
        <p:spPr>
          <a:xfrm>
            <a:off x="9880600" y="36423600"/>
            <a:ext cx="3683000" cy="22860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9880600" y="36525200"/>
            <a:ext cx="3683000" cy="1092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6000" b="1" i="0">
                <a:solidFill>
                  <a:srgbClr val="288D26"/>
                </a:solidFill>
              </a:rPr>
              <a:t>2/2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982200" y="37642800"/>
            <a:ext cx="3479800" cy="965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100" b="1" i="0">
                <a:solidFill>
                  <a:srgbClr val="193B22"/>
                </a:solidFill>
              </a:rPr>
              <a:t>시연 집 판정·경보</a:t>
            </a:r>
          </a:p>
          <a:p>
            <a:pPr algn="ctr"/>
            <a:r>
              <a:rPr sz="1900" b="0" i="0">
                <a:solidFill>
                  <a:srgbClr val="193B22"/>
                </a:solidFill>
              </a:rPr>
              <a:t>정답표와 일치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955800" y="38887400"/>
            <a:ext cx="11684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193B22"/>
                </a:solidFill>
              </a:rPr>
              <a:t>내 보증금 비율로 본 역전세 경보 (시연 집 2채)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955800" y="40106600"/>
            <a:ext cx="4602480" cy="482600"/>
          </a:xfrm>
          <a:prstGeom prst="rect">
            <a:avLst/>
          </a:prstGeom>
          <a:solidFill>
            <a:srgbClr val="CFEAC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문제 없음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558280" y="40106600"/>
            <a:ext cx="2301239" cy="482600"/>
          </a:xfrm>
          <a:prstGeom prst="rect">
            <a:avLst/>
          </a:prstGeom>
          <a:solidFill>
            <a:srgbClr val="F7D774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주의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59520" y="40106600"/>
            <a:ext cx="2301240" cy="482600"/>
          </a:xfrm>
          <a:prstGeom prst="rect">
            <a:avLst/>
          </a:prstGeom>
          <a:solidFill>
            <a:srgbClr val="F0A04B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193B22"/>
                </a:solidFill>
              </a:rPr>
              <a:t>경고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11160760" y="40106600"/>
            <a:ext cx="2301239" cy="482600"/>
          </a:xfrm>
          <a:prstGeom prst="rect">
            <a:avLst/>
          </a:prstGeom>
          <a:solidFill>
            <a:srgbClr val="D9534F"/>
          </a:solidFill>
          <a:ln>
            <a:noFill/>
          </a:ln>
        </p:spPr>
        <p:txBody>
          <a:bodyPr rtlCol="0" anchor="ctr" wrap="square" lIns="0" rIns="0" tIns="25400" bIns="25400"/>
          <a:lstStyle/>
          <a:p>
            <a:pPr algn="ctr"/>
            <a:r>
              <a:rPr sz="1900" b="1" i="0">
                <a:solidFill>
                  <a:srgbClr val="FFFFFF"/>
                </a:solidFill>
              </a:rPr>
              <a:t>위험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05028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80%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835152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90%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652760" y="40614600"/>
            <a:ext cx="1016000" cy="3302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1800" b="0" i="0">
                <a:solidFill>
                  <a:srgbClr val="68746A"/>
                </a:solidFill>
              </a:rPr>
              <a:t>100%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061098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아파트 86.6%</a:t>
            </a:r>
          </a:p>
        </p:txBody>
      </p:sp>
      <p:sp>
        <p:nvSpPr>
          <p:cNvPr id="109" name="Isosceles Triangle 108"/>
          <p:cNvSpPr/>
          <p:nvPr/>
        </p:nvSpPr>
        <p:spPr>
          <a:xfrm rot="10800000">
            <a:off x="7937398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9017152" y="39370000"/>
            <a:ext cx="2032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000" b="1" i="0">
                <a:solidFill>
                  <a:srgbClr val="193B22"/>
                </a:solidFill>
              </a:rPr>
              <a:t>빌라 95.1%</a:t>
            </a:r>
          </a:p>
        </p:txBody>
      </p:sp>
      <p:sp>
        <p:nvSpPr>
          <p:cNvPr id="111" name="Isosceles Triangle 110"/>
          <p:cNvSpPr/>
          <p:nvPr/>
        </p:nvSpPr>
        <p:spPr>
          <a:xfrm rot="10800000">
            <a:off x="9893452" y="39776400"/>
            <a:ext cx="279400" cy="254000"/>
          </a:xfrm>
          <a:prstGeom prst="triangle">
            <a:avLst/>
          </a:prstGeom>
          <a:solidFill>
            <a:srgbClr val="193B2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1955800" y="40995600"/>
            <a:ext cx="11684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비율 = (보증금 + 근저당) ÷ 추정 주택가격(공시가격 × 140%, 실거래가가 더 낮으면 그 값)</a:t>
            </a:r>
          </a:p>
        </p:txBody>
      </p:sp>
      <p:sp>
        <p:nvSpPr>
          <p:cNvPr id="113" name="앱 화면 판정 결과"/>
          <p:cNvSpPr/>
          <p:nvPr/>
        </p:nvSpPr>
        <p:spPr>
          <a:xfrm>
            <a:off x="15875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5367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판정 결과</a:t>
            </a:r>
          </a:p>
        </p:txBody>
      </p:sp>
      <p:sp>
        <p:nvSpPr>
          <p:cNvPr id="115" name="앱 화면 역전세 경보"/>
          <p:cNvSpPr/>
          <p:nvPr/>
        </p:nvSpPr>
        <p:spPr>
          <a:xfrm>
            <a:off x="19558000" y="36423600"/>
            <a:ext cx="2413000" cy="4191000"/>
          </a:xfrm>
          <a:prstGeom prst="roundRect">
            <a:avLst>
              <a:gd name="adj" fmla="val 12000"/>
            </a:avLst>
          </a:prstGeom>
          <a:solidFill>
            <a:srgbClr val="F6F8F6"/>
          </a:solidFill>
          <a:ln w="28575">
            <a:solidFill>
              <a:srgbClr val="AAD49D"/>
            </a:solidFill>
            <a:prstDash val="dash"/>
          </a:ln>
        </p:spPr>
        <p:txBody>
          <a:bodyPr rtlCol="0" anchor="ctr" wrap="square" lIns="76200" rIns="76200" tIns="25400" bIns="25400"/>
          <a:lstStyle/>
          <a:p>
            <a:pPr algn="ctr"/>
            <a:r>
              <a:rPr sz="2200" b="1" i="0">
                <a:solidFill>
                  <a:srgbClr val="68746A"/>
                </a:solidFill>
              </a:rPr>
              <a:t>앱 화면</a:t>
            </a:r>
          </a:p>
          <a:p>
            <a:pPr algn="ctr"/>
            <a:r>
              <a:rPr sz="1800" b="0" i="0">
                <a:solidFill>
                  <a:srgbClr val="68746A"/>
                </a:solidFill>
              </a:rPr>
              <a:t>스크린샷 자리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19050000" y="40690800"/>
            <a:ext cx="3429000" cy="4318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ctr"/>
            <a:r>
              <a:rPr sz="2200" b="1" i="0">
                <a:solidFill>
                  <a:srgbClr val="288D26"/>
                </a:solidFill>
              </a:rPr>
              <a:t>역전세 경보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955800" y="41529000"/>
            <a:ext cx="21590000" cy="3810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000" b="0" i="0">
                <a:solidFill>
                  <a:srgbClr val="68746A"/>
                </a:solidFill>
              </a:rPr>
              <a:t>※ 등기부 정확도는 파서를 만들며 맞춘 샘플 10건 기준입니다. 빌라 근저당 1,440만 원은 시연용 가상 값입니다.</a:t>
            </a:r>
          </a:p>
        </p:txBody>
      </p:sp>
      <p:sp>
        <p:nvSpPr>
          <p:cNvPr id="118" name="소제목 기존 서비스와 비교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409700" y="42138600"/>
            <a:ext cx="11430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기존 서비스와 비교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sp>
        <p:nvSpPr>
          <p:cNvPr id="119" name="소제목 비즈니스 모델·시장">
            <a:extLst>
              <a:ext uri="{FF2B5EF4-FFF2-40B4-BE49-F238E27FC236}">
                <a16:creationId xmlns:a16="http://schemas.microsoft.com/office/drawing/2014/main" id="{14565D32-0944-4B2D-AA47-C50D2D612CC4}"/>
              </a:ext>
            </a:extLst>
          </p:cNvPr>
          <p:cNvSpPr>
            <a:spLocks noGrp="1"/>
          </p:cNvSpPr>
          <p:nvPr/>
        </p:nvSpPr>
        <p:spPr>
          <a:xfrm>
            <a:off x="13970000" y="42138600"/>
            <a:ext cx="96520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685800" indent="-685800">
              <a:buFont typeface="Arial"/>
              <a:buChar char="•"/>
            </a:pPr>
            <a:r>
              <a:rPr sz="4800" b="1">
                <a:gradFill>
                  <a:gsLst>
                    <a:gs pos="30000">
                      <a:srgbClr val="23901B"/>
                    </a:gs>
                    <a:gs pos="100000">
                      <a:srgbClr val="82E959"/>
                    </a:gs>
                  </a:gsLst>
                  <a:lin ang="0" scaled="0"/>
                </a:gradFill>
              </a:rPr>
              <a:t>비즈니스 모델·시장</a:t>
            </a:r>
            <a:endParaRPr sz="4800">
              <a:gradFill>
                <a:gsLst>
                  <a:gs pos="30000">
                    <a:srgbClr val="23901B"/>
                  </a:gs>
                  <a:gs pos="100000">
                    <a:srgbClr val="82E959"/>
                  </a:gs>
                </a:gsLst>
                <a:lin ang="0" scaled="0"/>
              </a:gradFill>
            </a:endParaRPr>
          </a:p>
        </p:txBody>
      </p:sp>
      <p:graphicFrame>
        <p:nvGraphicFramePr>
          <p:cNvPr id="120" name="비교표"/>
          <p:cNvGraphicFramePr>
            <a:graphicFrameLocks noGrp="1"/>
          </p:cNvGraphicFramePr>
          <p:nvPr/>
        </p:nvGraphicFramePr>
        <p:xfrm>
          <a:off x="1955800" y="43154600"/>
          <a:ext cx="11684000" cy="3937000"/>
        </p:xfrm>
        <a:graphic>
          <a:graphicData uri="http://schemas.openxmlformats.org/drawingml/2006/table">
            <a:tbl>
              <a:tblPr firstRow="0" bandRow="0"/>
              <a:tblGrid>
                <a:gridCol w="2159000"/>
                <a:gridCol w="2921000"/>
                <a:gridCol w="2794000"/>
                <a:gridCol w="3810000"/>
              </a:tblGrid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HUG 안심전세앱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직방 지킴진단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200" b="1" i="0">
                          <a:solidFill>
                            <a:srgbClr val="FFFFFF"/>
                          </a:solidFill>
                        </a:rPr>
                        <a:t>전동기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288D26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쓰는 시점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전·보증 가입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계약 전 1회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계약 당일~만기 후 3개월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특약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맞춤 특약 제안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넣음/거절 기록 → 할 일 변경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날짜별 할 일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—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내 계약 날짜로 9종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  <a:tr h="787400"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193B22"/>
                          </a:solidFill>
                        </a:rPr>
                        <a:t>가격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무료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0" i="0">
                          <a:solidFill>
                            <a:srgbClr val="193B22"/>
                          </a:solidFill>
                        </a:rPr>
                        <a:t>1회 4,900원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 lIns="63500" rIns="63500" tIns="25400" bIns="25400"/>
                    <a:lstStyle/>
                    <a:p>
                      <a:pPr algn="ctr"/>
                      <a:r>
                        <a:rPr sz="2000" b="1" i="0">
                          <a:solidFill>
                            <a:srgbClr val="288D26"/>
                          </a:solidFill>
                        </a:rPr>
                        <a:t>확인 무료 · 패키지 9,900원</a:t>
                      </a:r>
                    </a:p>
                  </a:txBody>
                  <a:tcPr marL="63500" marR="63500" marT="25400" marB="25400" anchor="ctr">
                    <a:lnL w="9525">
                      <a:solidFill>
                        <a:srgbClr val="B6D9A8"/>
                      </a:solidFill>
                    </a:lnL>
                    <a:lnR w="9525">
                      <a:solidFill>
                        <a:srgbClr val="B6D9A8"/>
                      </a:solidFill>
                    </a:lnR>
                    <a:lnT w="9525">
                      <a:solidFill>
                        <a:srgbClr val="B6D9A8"/>
                      </a:solidFill>
                    </a:lnT>
                    <a:lnB w="9525">
                      <a:solidFill>
                        <a:srgbClr val="B6D9A8"/>
                      </a:solidFill>
                    </a:lnB>
                    <a:solidFill>
                      <a:srgbClr val="EEF8E9"/>
                    </a:solidFill>
                  </a:tcPr>
                </a:tc>
              </a:tr>
            </a:tbl>
          </a:graphicData>
        </a:graphic>
      </p:graphicFrame>
      <p:sp>
        <p:nvSpPr>
          <p:cNvPr id="121" name="TextBox 120"/>
          <p:cNvSpPr txBox="1"/>
          <p:nvPr/>
        </p:nvSpPr>
        <p:spPr>
          <a:xfrm>
            <a:off x="1955800" y="47142400"/>
            <a:ext cx="11684000" cy="355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1800" b="0" i="0">
                <a:solidFill>
                  <a:srgbClr val="68746A"/>
                </a:solidFill>
              </a:rPr>
              <a:t>※ 각 서비스 공개 자료와 직접 사용 기준 (2026년 10월)</a:t>
            </a:r>
          </a:p>
        </p:txBody>
      </p:sp>
      <p:sp>
        <p:nvSpPr>
          <p:cNvPr id="122" name="BM 1"/>
          <p:cNvSpPr/>
          <p:nvPr/>
        </p:nvSpPr>
        <p:spPr>
          <a:xfrm>
            <a:off x="14351000" y="431546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14541500" y="431546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무료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6027400" y="431546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계약 전 확인 — 등기부 판정·역전세 지표</a:t>
            </a:r>
          </a:p>
        </p:txBody>
      </p:sp>
      <p:sp>
        <p:nvSpPr>
          <p:cNvPr id="125" name="BM 2"/>
          <p:cNvSpPr/>
          <p:nvPr/>
        </p:nvSpPr>
        <p:spPr>
          <a:xfrm>
            <a:off x="14351000" y="439928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14541500" y="439928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9,900원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6027400" y="439928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패키지(당일~만기 후 3개월), 다가구·단독 4,900원</a:t>
            </a:r>
          </a:p>
        </p:txBody>
      </p:sp>
      <p:sp>
        <p:nvSpPr>
          <p:cNvPr id="128" name="BM 3"/>
          <p:cNvSpPr/>
          <p:nvPr/>
        </p:nvSpPr>
        <p:spPr>
          <a:xfrm>
            <a:off x="14351000" y="448310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14541500" y="448310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B2G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6027400" y="448310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지자체·대학 이용권 (1장 9,900원 기준)</a:t>
            </a:r>
          </a:p>
        </p:txBody>
      </p:sp>
      <p:sp>
        <p:nvSpPr>
          <p:cNvPr id="131" name="BM 4"/>
          <p:cNvSpPr/>
          <p:nvPr/>
        </p:nvSpPr>
        <p:spPr>
          <a:xfrm>
            <a:off x="14351000" y="45669200"/>
            <a:ext cx="9144000" cy="736600"/>
          </a:xfrm>
          <a:prstGeom prst="rect">
            <a:avLst/>
          </a:prstGeom>
          <a:solidFill>
            <a:srgbClr val="EEF8E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4541500" y="45669200"/>
            <a:ext cx="14605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500" b="1" i="0">
                <a:solidFill>
                  <a:srgbClr val="288D26"/>
                </a:solidFill>
              </a:rPr>
              <a:t>시장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6027400" y="45669200"/>
            <a:ext cx="7366000" cy="736600"/>
          </a:xfrm>
          <a:prstGeom prst="rect">
            <a:avLst/>
          </a:prstGeom>
          <a:noFill/>
        </p:spPr>
        <p:txBody>
          <a:bodyPr wrap="square" anchor="ctr" lIns="0" rIns="0" tIns="25400" bIns="25400">
            <a:spAutoFit/>
          </a:bodyPr>
          <a:lstStyle/>
          <a:p>
            <a:pPr algn="l"/>
            <a:r>
              <a:rPr sz="2100" b="0" i="0">
                <a:solidFill>
                  <a:srgbClr val="193B22"/>
                </a:solidFill>
              </a:rPr>
              <a:t>부산 전세 43,941건 중 1% ≈ 440건 (가설)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14351000" y="46558200"/>
            <a:ext cx="9144000" cy="889000"/>
          </a:xfrm>
          <a:prstGeom prst="rect">
            <a:avLst/>
          </a:prstGeom>
          <a:noFill/>
        </p:spPr>
        <p:txBody>
          <a:bodyPr wrap="square" anchor="t" lIns="0" rIns="0" tIns="25400" bIns="25400">
            <a:spAutoFit/>
          </a:bodyPr>
          <a:lstStyle/>
          <a:p>
            <a:pPr algn="l"/>
            <a:r>
              <a:rPr sz="2300" b="1" i="0">
                <a:solidFill>
                  <a:srgbClr val="288D26"/>
                </a:solidFill>
              </a:rPr>
              <a:t xml:space="preserve">첫 고객  </a:t>
            </a:r>
            <a:r>
              <a:rPr sz="2200" b="1" i="0">
                <a:solidFill>
                  <a:srgbClr val="193B22"/>
                </a:solidFill>
              </a:rPr>
              <a:t>부산 20~30대 첫 전세 세입자 (대학·청년 주거 기관으로 유입)</a:t>
            </a:r>
          </a:p>
          <a:p>
            <a:pPr algn="l"/>
            <a:r>
              <a:rPr sz="2300" b="1" i="0">
                <a:solidFill>
                  <a:srgbClr val="288D26"/>
                </a:solidFill>
              </a:rPr>
              <a:t xml:space="preserve">확장  </a:t>
            </a:r>
            <a:r>
              <a:rPr sz="2200" b="1" i="0">
                <a:solidFill>
                  <a:srgbClr val="193B22"/>
                </a:solidFill>
              </a:rPr>
              <a:t>B2G 1곳 연 1,000장 ≈ 990만 원 → 수도권 약 47만 건</a:t>
            </a:r>
          </a:p>
        </p:txBody>
      </p:sp>
    </p:spTree>
    <p:extLst>
      <p:ext uri="{BB962C8B-B14F-4D97-AF65-F5344CB8AC3E}">
        <p14:creationId xmlns:p14="http://schemas.microsoft.com/office/powerpoint/2010/main" val="4133801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396</Words>
  <Application>Microsoft Office PowerPoint</Application>
  <DocSecurity>0</DocSecurity>
  <PresentationFormat>사용자 지정</PresentationFormat>
  <Paragraphs>114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맑은 고딕</vt:lpstr>
      <vt:lpstr>에스코어 드림 9 Black</vt:lpstr>
      <vt:lpstr>Arial</vt:lpstr>
      <vt:lpstr>Office 테마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win</cp:lastModifiedBy>
  <cp:revision>5</cp:revision>
  <dcterms:created xsi:type="dcterms:W3CDTF">2026-10-16T09:20:51Z</dcterms:created>
  <dcterms:modified xsi:type="dcterms:W3CDTF">2026-10-19T02:31:59Z</dcterms:modified>
</cp:coreProperties>
</file>