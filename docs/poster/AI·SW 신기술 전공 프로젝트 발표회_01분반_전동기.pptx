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5199975" cy="5039995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8" y="-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E6BC0B8-43BA-4587-BB22-3034E8C085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25199975" cy="503999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0A94-15AC-445B-88CB-963F881D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C03C0-2F4F-4BF6-8F8C-AF9C6C1D3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298A9-78B1-424A-BED4-E2D1EA2E2A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2923D-BC9A-4508-A7CA-D510D6E6CF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BA240-D235-450E-A2FD-DE400D9832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37032-478C-4C5D-9ABD-F3B6DFBB3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75" y="12565002"/>
            <a:ext cx="21734978" cy="20964976"/>
          </a:xfrm>
        </p:spPr>
        <p:txBody>
          <a:bodyPr anchor="b"/>
          <a:lstStyle>
            <a:lvl1pPr>
              <a:buNone/>
              <a:defRPr sz="16535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EBAEF-EC6C-46F1-8110-6A0AD4B2E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9375" y="33728315"/>
            <a:ext cx="21734978" cy="11024985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8EE94-65DC-4938-AC1B-3C28DDE380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115B9-CDCB-48D8-979C-7DD3FDF7D9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3024D-9D5C-42A7-8B5F-7B2CBDC951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64AB-1237-46FC-A3B8-4544CB4A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BA2B-022B-4AD7-B5BC-24B36DF04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498" y="13416653"/>
            <a:ext cx="10709989" cy="31978305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305FB-768B-40BF-962C-6D96125054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2757488" y="13416653"/>
            <a:ext cx="10709989" cy="31978305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C8B8B-0120-44FA-8219-1227428824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00854-134F-4FCF-B6A1-21CAB2BEBC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D5302-F383-405E-B35C-16A69C50F8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2B4C-0844-48EF-A7D3-1F92D884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1" y="2683342"/>
            <a:ext cx="21734978" cy="9741661"/>
          </a:xfrm>
        </p:spPr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170D7-107A-417B-A524-91A4A24B8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5783" y="12354992"/>
            <a:ext cx="10660769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FE792-8F5A-48C0-B76C-53D78EF5BFA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735783" y="18409982"/>
            <a:ext cx="10660769" cy="27078310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75B4D-758E-45AC-A76B-4E6690153A6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2757489" y="12354992"/>
            <a:ext cx="10713272" cy="6054990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D9DDA-92CE-419B-806E-F6B5D5A9A34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2757489" y="18409982"/>
            <a:ext cx="10713272" cy="27078310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9D8676-0A5D-454B-9AAF-56D95292FC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51534-19A2-4196-AD46-D7FBB7EE40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CEBD4-2E2B-42B2-8C24-40DB4D6C46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693D-60C3-4498-A5F1-DEAAE3F2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E18C40-88BA-41E2-88BD-316C99BC2A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48111-5464-4FC9-8F0E-DB2CB5EFC4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96B90-F598-4D29-968D-8FDE9443D6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32BC6A-7FF1-4EE8-A11F-CEF3ACCF89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EF93A-FF69-4549-B9EB-B658AF7924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7EFAA-A1CA-4E67-A353-F94E25481A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1388-3061-4042-8A3C-2EB5EF96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buNone/>
              <a:defRPr sz="8819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6757F-E856-4579-9E18-1269A1722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3272" y="7256671"/>
            <a:ext cx="12757487" cy="35816631"/>
          </a:xfrm>
        </p:spPr>
        <p:txBody>
          <a:bodyPr/>
          <a:lstStyle>
            <a:lvl1pPr>
              <a:buNone/>
              <a:defRPr sz="8819"/>
            </a:lvl1pPr>
            <a:lvl2pPr>
              <a:buNone/>
              <a:defRPr sz="7717"/>
            </a:lvl2pPr>
            <a:lvl3pPr>
              <a:buNone/>
              <a:defRPr sz="6614"/>
            </a:lvl3pPr>
            <a:lvl4pPr>
              <a:buNone/>
              <a:defRPr sz="5512"/>
            </a:lvl4pPr>
            <a:lvl5pPr>
              <a:buNone/>
              <a:defRPr sz="5512"/>
            </a:lvl5pPr>
            <a:lvl6pPr>
              <a:buNone/>
              <a:defRPr sz="5512"/>
            </a:lvl6pPr>
            <a:lvl7pPr>
              <a:buNone/>
              <a:defRPr sz="5512"/>
            </a:lvl7pPr>
            <a:lvl8pPr>
              <a:buNone/>
              <a:defRPr sz="5512"/>
            </a:lvl8pPr>
            <a:lvl9pPr>
              <a:buNone/>
              <a:defRPr sz="5512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16623-CA0F-43C0-9E3A-62E02CDF39A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55309-CD48-4CB3-A711-04543F64D2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D64C1-B834-4AAE-8E59-9BCC90A1AB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B765A-955F-4713-A629-990A18B760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B983-75D3-43A3-A444-175500C2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0" y="3359997"/>
            <a:ext cx="8127648" cy="11759988"/>
          </a:xfrm>
        </p:spPr>
        <p:txBody>
          <a:bodyPr anchor="b"/>
          <a:lstStyle>
            <a:lvl1pPr>
              <a:buNone/>
              <a:defRPr sz="8819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910D9-403F-47E2-A69A-79E3B63BF0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713272" y="7256671"/>
            <a:ext cx="12757487" cy="35816631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E9B02-B917-4556-81C9-CEB9D28E57A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35780" y="15119985"/>
            <a:ext cx="8127648" cy="28011643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76B5C-438C-4FFD-851F-6CEA70D0EB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E704F-2EC2-4FFC-BD10-CEF0FC0728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47D2B-DC37-425C-B943-0C1428F523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93C4-3DF3-4BFF-91D3-9F809F49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72F1D-FC2C-4779-861F-F0A0D63CB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862FB-228E-40E3-941A-88A726EE31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9B996-BDA2-4FB5-A110-640F030F4A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B73AB-44FD-44E5-81A9-93E5388067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8B2DE-156E-471B-8EDF-902C9681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3733" y="2683331"/>
            <a:ext cx="5433745" cy="42711628"/>
          </a:xfrm>
        </p:spPr>
        <p:txBody>
          <a:bodyPr vert="eaVert"/>
          <a:lstStyle/>
          <a:p>
            <a:r>
              <a:t>마스터 제목 스타일 편집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96BE9-22C1-4668-B2DC-C9C8F7CA5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500" y="2683331"/>
            <a:ext cx="15986234" cy="42711628"/>
          </a:xfrm>
        </p:spPr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078A5-56C9-4717-992B-611E1F927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2D0A5-110C-411B-BD5F-0756C0F0BE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CFE70-55E4-4FEC-A9E0-ECB9A1005F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203DCA-9940-43C4-9E50-4A34BDE669F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E57EE8-0B47-4888-90EC-6BCCDC9E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499" y="2683342"/>
            <a:ext cx="21734978" cy="974166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8C956-811A-45E7-A948-0A9EF3AF8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499" y="13416653"/>
            <a:ext cx="21734978" cy="3197830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6B746-902F-4297-9415-493420DB7A4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732498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5D779-BE9D-4FDC-B110-A5ADA8610006}" type="datetimeFigureOut">
              <a:t>2026-10-27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3C4D1-C099-4193-8807-9D51968E6CF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347492" y="46713298"/>
            <a:ext cx="8504992" cy="268333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278DA-990E-48B9-AB55-801580DEB86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7797483" y="46713298"/>
            <a:ext cx="5669994" cy="268333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03DCA-9940-43C4-9E50-4A34BDE669F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519995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629999" indent="-629999" algn="l" defTabSz="2519995">
        <a:lnSpc>
          <a:spcPct val="90000"/>
        </a:lnSpc>
        <a:spcBef>
          <a:spcPts val="2756"/>
        </a:spcBef>
        <a:buFont typeface="Arial"/>
        <a:buChar char="•"/>
        <a:defRPr sz="7717" kern="1200">
          <a:solidFill>
            <a:schemeClr val="tx1"/>
          </a:solidFill>
          <a:latin typeface="+mn-lt"/>
          <a:ea typeface="+mn-lt"/>
          <a:cs typeface="+mn-lt"/>
        </a:defRPr>
      </a:lvl1pPr>
      <a:lvl2pPr marL="1889996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6614" kern="1200">
          <a:solidFill>
            <a:schemeClr val="tx1"/>
          </a:solidFill>
          <a:latin typeface="+mn-lt"/>
          <a:ea typeface="+mn-lt"/>
          <a:cs typeface="+mn-lt"/>
        </a:defRPr>
      </a:lvl2pPr>
      <a:lvl3pPr marL="3149994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5512" kern="1200">
          <a:solidFill>
            <a:schemeClr val="tx1"/>
          </a:solidFill>
          <a:latin typeface="+mn-lt"/>
          <a:ea typeface="+mn-lt"/>
          <a:cs typeface="+mn-lt"/>
        </a:defRPr>
      </a:lvl3pPr>
      <a:lvl4pPr marL="4409991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4pPr>
      <a:lvl5pPr marL="5669989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5pPr>
      <a:lvl6pPr marL="6929986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6pPr>
      <a:lvl7pPr marL="8189984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7pPr>
      <a:lvl8pPr marL="9449981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8pPr>
      <a:lvl9pPr marL="10709979" indent="-629999" algn="l" defTabSz="2519995">
        <a:lnSpc>
          <a:spcPct val="90000"/>
        </a:lnSpc>
        <a:spcBef>
          <a:spcPts val="1378"/>
        </a:spcBef>
        <a:buFont typeface="Arial"/>
        <a:buChar char="•"/>
        <a:defRPr sz="496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1pPr>
      <a:lvl2pPr marL="1259997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2pPr>
      <a:lvl3pPr marL="2519995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3pPr>
      <a:lvl4pPr marL="3779992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4pPr>
      <a:lvl5pPr marL="503999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5pPr>
      <a:lvl6pPr marL="6299987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6pPr>
      <a:lvl7pPr marL="7559985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7pPr>
      <a:lvl8pPr marL="8819982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8pPr>
      <a:lvl9pPr marL="10079980" algn="l" defTabSz="2519995">
        <a:buNone/>
        <a:defRPr sz="496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E4CAE4D-B93C-5B7F-4753-E6960337DEA7}"/>
              </a:ext>
            </a:extLst>
          </p:cNvPr>
          <p:cNvSpPr>
            <a:spLocks noGrp="1"/>
          </p:cNvSpPr>
          <p:nvPr/>
        </p:nvSpPr>
        <p:spPr>
          <a:xfrm>
            <a:off x="1727654" y="4565537"/>
            <a:ext cx="4092121" cy="62241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2400" b="1">
                <a:solidFill>
                  <a:schemeClr val="bg1"/>
                </a:solidFill>
              </a:rPr>
              <a:t>프로젝트명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89FA6-79CC-0748-672B-CA75A6939ED5}"/>
              </a:ext>
            </a:extLst>
          </p:cNvPr>
          <p:cNvSpPr>
            <a:spLocks noGrp="1"/>
          </p:cNvSpPr>
          <p:nvPr/>
        </p:nvSpPr>
        <p:spPr>
          <a:xfrm>
            <a:off x="2473323" y="5330000"/>
            <a:ext cx="20253328" cy="13735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0000" b="1" i="0" dirty="0" err="1">
                <a:gradFill>
                  <a:gsLst>
                    <a:gs pos="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전동기</a:t>
            </a:r>
            <a:r>
              <a:rPr sz="10000" b="1" i="0" dirty="0">
                <a:gradFill>
                  <a:gsLst>
                    <a:gs pos="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0000" b="1" i="0" dirty="0">
                <a:gradFill>
                  <a:gsLst>
                    <a:gs pos="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000" b="1" i="0" dirty="0">
                <a:gradFill>
                  <a:gsLst>
                    <a:gs pos="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 </a:t>
            </a:r>
            <a:r>
              <a:rPr sz="10000" b="1" i="0" dirty="0" err="1">
                <a:gradFill>
                  <a:gsLst>
                    <a:gs pos="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  <a:latin typeface="맑은 고딕"/>
                <a:ea typeface="맑은 고딕"/>
                <a:cs typeface="맑은 고딕"/>
              </a:rPr>
              <a:t>전세동행기록</a:t>
            </a:r>
            <a:endParaRPr sz="10000" b="1" i="0" dirty="0">
              <a:gradFill>
                <a:gsLst>
                  <a:gs pos="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DD7156-CCC7-8E70-0D95-8D735CA5FE0E}"/>
              </a:ext>
            </a:extLst>
          </p:cNvPr>
          <p:cNvSpPr>
            <a:spLocks noGrp="1"/>
          </p:cNvSpPr>
          <p:nvPr/>
        </p:nvSpPr>
        <p:spPr>
          <a:xfrm>
            <a:off x="2473323" y="6780000"/>
            <a:ext cx="20253328" cy="6085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3800" b="0" i="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“계약 당일부터 보증금을 돌려받을 때까지, 내 계약에 맞춰 챙겨 주는 전세 동행 서비스”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E6ABC-3930-99E4-78C4-E5ED7DBA600C}"/>
              </a:ext>
            </a:extLst>
          </p:cNvPr>
          <p:cNvSpPr>
            <a:spLocks noGrp="1"/>
          </p:cNvSpPr>
          <p:nvPr/>
        </p:nvSpPr>
        <p:spPr>
          <a:xfrm>
            <a:off x="1825623" y="7950000"/>
            <a:ext cx="15525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팀명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4EEC8-7D19-3E33-8403-B05E6D795AEA}"/>
              </a:ext>
            </a:extLst>
          </p:cNvPr>
          <p:cNvSpPr>
            <a:spLocks noGrp="1"/>
          </p:cNvSpPr>
          <p:nvPr/>
        </p:nvSpPr>
        <p:spPr>
          <a:xfrm>
            <a:off x="1824035" y="9020000"/>
            <a:ext cx="25939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팀원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7D9EEA-D381-A6F8-A1FB-8A6B7A992195}"/>
              </a:ext>
            </a:extLst>
          </p:cNvPr>
          <p:cNvSpPr>
            <a:spLocks noGrp="1"/>
          </p:cNvSpPr>
          <p:nvPr/>
        </p:nvSpPr>
        <p:spPr>
          <a:xfrm>
            <a:off x="1825623" y="8250000"/>
            <a:ext cx="6165804" cy="7591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5000" b="1" i="0">
                <a:latin typeface="맑은 고딕"/>
                <a:ea typeface="맑은 고딕"/>
                <a:cs typeface="맑은 고딕"/>
              </a:rPr>
              <a:t>전동기</a:t>
            </a:r>
          </a:p>
        </p:txBody>
      </p:sp>
      <p:sp>
        <p:nvSpPr>
          <p:cNvPr id="21" name="사각형: 잘린 위쪽 모서리 20">
            <a:extLst>
              <a:ext uri="{FF2B5EF4-FFF2-40B4-BE49-F238E27FC236}">
                <a16:creationId xmlns:a16="http://schemas.microsoft.com/office/drawing/2014/main" id="{BBA1C118-1650-79CF-7D0A-4436592A06FC}"/>
              </a:ext>
            </a:extLst>
          </p:cNvPr>
          <p:cNvSpPr>
            <a:spLocks noGrp="1"/>
          </p:cNvSpPr>
          <p:nvPr/>
        </p:nvSpPr>
        <p:spPr>
          <a:xfrm>
            <a:off x="1115823" y="5211000"/>
            <a:ext cx="22968329" cy="2300000"/>
          </a:xfrm>
          <a:prstGeom prst="snip2SameRect">
            <a:avLst>
              <a:gd name="adj1" fmla="val 9145"/>
              <a:gd name="adj2" fmla="val 9193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사각형: 잘린 위쪽 모서리 22">
            <a:extLst>
              <a:ext uri="{FF2B5EF4-FFF2-40B4-BE49-F238E27FC236}">
                <a16:creationId xmlns:a16="http://schemas.microsoft.com/office/drawing/2014/main" id="{8BF01544-464E-3DF0-1DE5-FF5B1FBF025D}"/>
              </a:ext>
            </a:extLst>
          </p:cNvPr>
          <p:cNvSpPr>
            <a:spLocks noGrp="1"/>
          </p:cNvSpPr>
          <p:nvPr/>
        </p:nvSpPr>
        <p:spPr>
          <a:xfrm>
            <a:off x="1115824" y="7850000"/>
            <a:ext cx="12040669" cy="3450000"/>
          </a:xfrm>
          <a:prstGeom prst="snip2SameRect">
            <a:avLst>
              <a:gd name="adj1" fmla="val 13590"/>
              <a:gd name="adj2" fmla="val 12426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9D366D-B7C0-57FC-3ADC-A4A8D3C31F54}"/>
              </a:ext>
            </a:extLst>
          </p:cNvPr>
          <p:cNvSpPr>
            <a:spLocks noGrp="1"/>
          </p:cNvSpPr>
          <p:nvPr/>
        </p:nvSpPr>
        <p:spPr>
          <a:xfrm>
            <a:off x="3121024" y="891540"/>
            <a:ext cx="18957926" cy="26768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AI·SW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신기술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3EX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전공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</a:t>
            </a:r>
            <a:endParaRPr lang="en-US" sz="11000" b="1" dirty="0">
              <a:solidFill>
                <a:schemeClr val="bg1"/>
              </a:solidFill>
              <a:latin typeface="에스코어 드림 9 Black"/>
              <a:ea typeface="에스코어 드림 9 Black"/>
              <a:cs typeface="에스코어 드림 9 Black"/>
            </a:endParaRPr>
          </a:p>
          <a:p>
            <a:pPr algn="ctr">
              <a:buNone/>
            </a:pP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프로젝트</a:t>
            </a:r>
            <a:r>
              <a:rPr sz="11000" b="1" dirty="0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 </a:t>
            </a:r>
            <a:r>
              <a:rPr sz="11000" b="1" dirty="0" err="1">
                <a:solidFill>
                  <a:schemeClr val="bg1"/>
                </a:solidFill>
                <a:latin typeface="에스코어 드림 9 Black"/>
                <a:ea typeface="에스코어 드림 9 Black"/>
                <a:cs typeface="에스코어 드림 9 Black"/>
              </a:rPr>
              <a:t>발표회</a:t>
            </a:r>
            <a:endParaRPr sz="11000" b="1" dirty="0">
              <a:solidFill>
                <a:schemeClr val="bg1"/>
              </a:solidFill>
              <a:latin typeface="에스코어 드림 9 Black"/>
              <a:ea typeface="에스코어 드림 9 Black"/>
              <a:cs typeface="에스코어 드림 9 Blac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9D89C-6DE2-B1F2-83AF-CEE1CA096180}"/>
              </a:ext>
            </a:extLst>
          </p:cNvPr>
          <p:cNvSpPr>
            <a:spLocks noGrp="1"/>
          </p:cNvSpPr>
          <p:nvPr/>
        </p:nvSpPr>
        <p:spPr>
          <a:xfrm>
            <a:off x="9051015" y="7950000"/>
            <a:ext cx="2593977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320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  <a:cs typeface="맑은 고딕"/>
              </a:rPr>
              <a:t>지도교수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7939CA7-F97A-89C6-4CB4-91770981B80A}"/>
              </a:ext>
            </a:extLst>
          </p:cNvPr>
          <p:cNvSpPr>
            <a:spLocks noGrp="1"/>
          </p:cNvSpPr>
          <p:nvPr/>
        </p:nvSpPr>
        <p:spPr>
          <a:xfrm flipH="1">
            <a:off x="8506821" y="7950000"/>
            <a:ext cx="28800" cy="1050000"/>
          </a:xfrm>
          <a:prstGeom prst="rect">
            <a:avLst/>
          </a:prstGeom>
          <a:gradFill>
            <a:gsLst>
              <a:gs pos="0">
                <a:srgbClr val="23901B"/>
              </a:gs>
              <a:gs pos="100000">
                <a:srgbClr val="82E95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43A27A-448D-77ED-D5AB-C41EE7D79BA3}"/>
              </a:ext>
            </a:extLst>
          </p:cNvPr>
          <p:cNvSpPr>
            <a:spLocks noGrp="1"/>
          </p:cNvSpPr>
          <p:nvPr/>
        </p:nvSpPr>
        <p:spPr>
          <a:xfrm>
            <a:off x="9051015" y="8250000"/>
            <a:ext cx="3979187" cy="7591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5000" b="1" i="0" dirty="0">
                <a:latin typeface="맑은 고딕"/>
                <a:ea typeface="맑은 고딕"/>
                <a:cs typeface="맑은 고딕"/>
              </a:rPr>
              <a:t/>
            </a:r>
            <a:endParaRPr sz="5000" b="1" i="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사각형: 잘린 위쪽 모서리 32">
            <a:extLst>
              <a:ext uri="{FF2B5EF4-FFF2-40B4-BE49-F238E27FC236}">
                <a16:creationId xmlns:a16="http://schemas.microsoft.com/office/drawing/2014/main" id="{C626C3AE-3093-BD9D-72B6-CB3997022CE7}"/>
              </a:ext>
            </a:extLst>
          </p:cNvPr>
          <p:cNvSpPr>
            <a:spLocks noGrp="1"/>
          </p:cNvSpPr>
          <p:nvPr/>
        </p:nvSpPr>
        <p:spPr>
          <a:xfrm>
            <a:off x="1115823" y="11680000"/>
            <a:ext cx="22968329" cy="36623500"/>
          </a:xfrm>
          <a:prstGeom prst="snip2SameRect">
            <a:avLst>
              <a:gd name="adj1" fmla="val 1350"/>
              <a:gd name="adj2" fmla="val 1872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사각형: 잘린 위쪽 모서리 22">
            <a:extLst>
              <a:ext uri="{FF2B5EF4-FFF2-40B4-BE49-F238E27FC236}">
                <a16:creationId xmlns:a16="http://schemas.microsoft.com/office/drawing/2014/main" id="{8BF01544-464E-3DF0-1DE5-FF5B1FBF025D}"/>
              </a:ext>
            </a:extLst>
          </p:cNvPr>
          <p:cNvSpPr>
            <a:spLocks noGrp="1"/>
          </p:cNvSpPr>
          <p:nvPr/>
        </p:nvSpPr>
        <p:spPr>
          <a:xfrm>
            <a:off x="13671887" y="7850000"/>
            <a:ext cx="10412265" cy="3450000"/>
          </a:xfrm>
          <a:prstGeom prst="snip2SameRect">
            <a:avLst>
              <a:gd name="adj1" fmla="val 13590"/>
              <a:gd name="adj2" fmla="val 12426"/>
            </a:avLst>
          </a:prstGeom>
          <a:noFill/>
          <a:ln w="28575">
            <a:gradFill>
              <a:gsLst>
                <a:gs pos="0">
                  <a:srgbClr val="23901B"/>
                </a:gs>
                <a:gs pos="100000">
                  <a:srgbClr val="82E959"/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7D9EEA-D381-A6F8-A1FB-8A6B7A992195}"/>
              </a:ext>
            </a:extLst>
          </p:cNvPr>
          <p:cNvSpPr>
            <a:spLocks noGrp="1"/>
          </p:cNvSpPr>
          <p:nvPr/>
        </p:nvSpPr>
        <p:spPr>
          <a:xfrm>
            <a:off x="16060589" y="9195417"/>
            <a:ext cx="6165804" cy="75916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5000" b="1" i="1" dirty="0">
                <a:latin typeface="맑은 고딕"/>
                <a:ea typeface="맑은 고딕"/>
                <a:cs typeface="맑은 고딕"/>
              </a:rPr>
              <a:t>팀 그룹 </a:t>
            </a:r>
            <a:r>
              <a:rPr sz="5000" b="1" i="1" dirty="0" err="1">
                <a:latin typeface="맑은 고딕"/>
                <a:ea typeface="맑은 고딕"/>
                <a:cs typeface="맑은 고딕"/>
              </a:rPr>
              <a:t>사진</a:t>
            </a:r>
            <a:endParaRPr sz="5000" b="1" i="1" dirty="0"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C883AA9-0A18-4B33-852E-F7725CF222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8221342"/>
              </p:ext>
            </p:extLst>
          </p:nvPr>
        </p:nvGraphicFramePr>
        <p:xfrm>
          <a:off x="1824035" y="9470000"/>
          <a:ext cx="10600194" cy="1700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533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학과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이름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ea"/>
                        </a:rPr>
                        <a:t>역할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3000" b="1" i="0" dirty="0">
                          <a:solidFill>
                            <a:srgbClr val="000000"/>
                          </a:solidFill>
                        </a:rPr>
                        <a:t>컴퓨터공</a:t>
                      </a:r>
                      <a:r>
                        <a:rPr sz="3000" b="1" i="0" dirty="0" err="1">
                          <a:solidFill>
                            <a:srgbClr val="000000"/>
                          </a:solidFill>
                        </a:rPr>
                        <a:t>학과</a:t>
                      </a:r>
                      <a:endParaRPr sz="3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 i="0">
                          <a:solidFill>
                            <a:srgbClr val="000000"/>
                          </a:solidFill>
                        </a:rPr>
                        <a:t>황웅재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 i="0">
                          <a:solidFill>
                            <a:srgbClr val="000000"/>
                          </a:solidFill>
                        </a:rPr>
                        <a:t>PO · 백엔드·규칙 엔진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3000" b="1" i="0" dirty="0">
                          <a:solidFill>
                            <a:srgbClr val="000000"/>
                          </a:solidFill>
                        </a:rPr>
                        <a:t>컴퓨터공</a:t>
                      </a:r>
                      <a:r>
                        <a:rPr sz="3000" b="1" i="0" dirty="0" err="1">
                          <a:solidFill>
                            <a:srgbClr val="000000"/>
                          </a:solidFill>
                        </a:rPr>
                        <a:t>학과</a:t>
                      </a:r>
                      <a:endParaRPr sz="3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 i="0">
                          <a:solidFill>
                            <a:srgbClr val="000000"/>
                          </a:solidFill>
                        </a:rPr>
                        <a:t>배승환</a:t>
                      </a:r>
                      <a:endParaRPr sz="300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000" b="1" i="0" dirty="0">
                          <a:solidFill>
                            <a:srgbClr val="000000"/>
                          </a:solidFill>
                        </a:rPr>
                        <a:t>PM · </a:t>
                      </a:r>
                      <a:r>
                        <a:rPr sz="3000" b="1" i="0" dirty="0" err="1">
                          <a:solidFill>
                            <a:srgbClr val="000000"/>
                          </a:solidFill>
                        </a:rPr>
                        <a:t>앱·검증</a:t>
                      </a:r>
                      <a:endParaRPr sz="3000" dirty="0">
                        <a:latin typeface="+mn-ea"/>
                        <a:ea typeface="+mn-ea"/>
                        <a:cs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BCB43DBC-8080-408F-B64F-84EF01CCC80E}"/>
              </a:ext>
            </a:extLst>
          </p:cNvPr>
          <p:cNvSpPr>
            <a:spLocks noGrp="1"/>
          </p:cNvSpPr>
          <p:nvPr/>
        </p:nvSpPr>
        <p:spPr>
          <a:xfrm>
            <a:off x="1727653" y="15280000"/>
            <a:ext cx="219582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600" b="1" i="0" dirty="0">
                <a:latin typeface="+mn-ea"/>
                <a:ea typeface="+mn-ea"/>
                <a:cs typeface="+mn-ea"/>
              </a:rPr>
              <a:t>계약 전 점검 서비스는 많지만, 계약 뒤 2년의 기한은 세입자 혼자 챙겨야 합니다. 전동기는 등기부 요약으로 위험을 판정하고, 계약 당일 특약 결과까지 반영해 내 계약에 맞는 할 일을 만듭니다.</a:t>
            </a:r>
            <a:endParaRPr sz="4000" b="1" i="0" dirty="0">
              <a:latin typeface="+mn-ea"/>
              <a:ea typeface="+mn-ea"/>
              <a:cs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CF6888F-04F6-4BFD-B74B-173FCBA6D616}"/>
              </a:ext>
            </a:extLst>
          </p:cNvPr>
          <p:cNvSpPr>
            <a:spLocks noGrp="1"/>
          </p:cNvSpPr>
          <p:nvPr/>
        </p:nvSpPr>
        <p:spPr>
          <a:xfrm>
            <a:off x="1415845" y="12020000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왜 필요한가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15844" y="16287886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주요 기능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F2074B-E09C-4F8B-B742-E9CD3DBCEDED}"/>
              </a:ext>
            </a:extLst>
          </p:cNvPr>
          <p:cNvSpPr>
            <a:spLocks noGrp="1"/>
          </p:cNvSpPr>
          <p:nvPr/>
        </p:nvSpPr>
        <p:spPr>
          <a:xfrm>
            <a:off x="1850000" y="17137886"/>
            <a:ext cx="10600000" cy="11600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ko-KR" altLang="en-US" sz="3600" b="0" i="0" dirty="0">
                <a:latin typeface="+mn-ea"/>
                <a:cs typeface="+mn-ea"/>
              </a:rPr>
              <a:t>내 계약 날짜로 할 일 9종</a:t>
            </a:r>
          </a:p>
          <a:p>
            <a:pPr marL="457200" indent="-457200">
              <a:buFont typeface="Arial"/>
              <a:buChar char="•"/>
            </a:pPr>
            <a:r>
              <a:rPr lang="ko-KR" altLang="en-US" sz="3600" b="0" i="0" dirty="0">
                <a:latin typeface="+mn-ea"/>
                <a:cs typeface="+mn-ea"/>
              </a:rPr>
              <a:t>증빙 사진 1장 전세 기록함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D3448B7-8C9C-4122-8956-BA98395B6B66}"/>
              </a:ext>
            </a:extLst>
          </p:cNvPr>
          <p:cNvSpPr>
            <a:spLocks noGrp="1"/>
          </p:cNvSpPr>
          <p:nvPr/>
        </p:nvSpPr>
        <p:spPr>
          <a:xfrm>
            <a:off x="1415800" y="39055887"/>
            <a:ext cx="5633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기대 효과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54F8BF7-4EC2-411B-90FF-02014A154B56}"/>
              </a:ext>
            </a:extLst>
          </p:cNvPr>
          <p:cNvSpPr>
            <a:spLocks noGrp="1"/>
          </p:cNvSpPr>
          <p:nvPr/>
        </p:nvSpPr>
        <p:spPr>
          <a:xfrm>
            <a:off x="1850000" y="39905887"/>
            <a:ext cx="1160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ko-KR" sz="3600" dirty="0"/>
              <a:t>세입자는 계약 뒤 2년의 기한을 내 날짜로 받아 놓치지 않</a:t>
            </a:r>
            <a:r>
              <a:rPr lang="ko-KR" altLang="en-US" sz="3600" dirty="0"/>
              <a:t>는다</a:t>
            </a:r>
            <a:r>
              <a:rPr lang="en-US" altLang="ko-KR" sz="36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ko-KR" altLang="ko-KR" sz="3600" dirty="0"/>
              <a:t>지자체는 피해가 난 뒤 지원하는 대신 계약 단계부터 예방할 수 있습니다.</a:t>
            </a:r>
            <a:endParaRPr lang="ko-KR" altLang="en-US" sz="3600" b="0" i="0" dirty="0">
              <a:latin typeface="+mn-ea"/>
              <a:cs typeface="+mn-ea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7939CA7-F97A-89C6-4CB4-91770981B80A}"/>
              </a:ext>
            </a:extLst>
          </p:cNvPr>
          <p:cNvSpPr>
            <a:spLocks noGrp="1"/>
          </p:cNvSpPr>
          <p:nvPr/>
        </p:nvSpPr>
        <p:spPr>
          <a:xfrm rot="16200000">
            <a:off x="12683922" y="7481608"/>
            <a:ext cx="45719" cy="22072556"/>
          </a:xfrm>
          <a:prstGeom prst="rect">
            <a:avLst/>
          </a:prstGeom>
          <a:gradFill>
            <a:gsLst>
              <a:gs pos="0">
                <a:srgbClr val="23901B"/>
              </a:gs>
              <a:gs pos="100000">
                <a:srgbClr val="82E95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소제목 서비스 흐름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09700" y="18747886"/>
            <a:ext cx="1016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서비스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흐름</a:t>
            </a:r>
            <a:endParaRPr sz="4800" dirty="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6" name="소제목 시스템 구성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2344400" y="18747886"/>
            <a:ext cx="11049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시스템 구성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37" name="흐름 1"/>
          <p:cNvSpPr/>
          <p:nvPr/>
        </p:nvSpPr>
        <p:spPr>
          <a:xfrm>
            <a:off x="1955800" y="19763886"/>
            <a:ext cx="9652000" cy="101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84400" y="19763886"/>
            <a:ext cx="3429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3000" b="1" i="0">
                <a:solidFill>
                  <a:srgbClr val="288D26"/>
                </a:solidFill>
              </a:rPr>
              <a:t>01  계약 전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1500" y="19763886"/>
            <a:ext cx="5842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등기부 요약 PDF·보증금 입력</a:t>
            </a:r>
          </a:p>
          <a:p>
            <a:pPr algn="l"/>
            <a:r>
              <a:rPr sz="2300" b="0" i="0">
                <a:solidFill>
                  <a:srgbClr val="193B22"/>
                </a:solidFill>
              </a:rPr>
              <a:t>→ 3단계 판정·역전세 지표 (무료)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20779886"/>
            <a:ext cx="762000" cy="254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000" b="1" i="0">
                <a:solidFill>
                  <a:srgbClr val="288D26"/>
                </a:solidFill>
              </a:rPr>
              <a:t>↓</a:t>
            </a:r>
          </a:p>
        </p:txBody>
      </p:sp>
      <p:sp>
        <p:nvSpPr>
          <p:cNvPr id="41" name="흐름 2"/>
          <p:cNvSpPr/>
          <p:nvPr/>
        </p:nvSpPr>
        <p:spPr>
          <a:xfrm>
            <a:off x="1955800" y="21033886"/>
            <a:ext cx="9652000" cy="101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84400" y="21033886"/>
            <a:ext cx="3429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3000" b="1" i="0">
                <a:solidFill>
                  <a:srgbClr val="288D26"/>
                </a:solidFill>
              </a:rPr>
              <a:t>02  계약 당일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1500" y="21033886"/>
            <a:ext cx="5842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소유자·대리인·계좌 명의 확인</a:t>
            </a:r>
          </a:p>
          <a:p>
            <a:pPr algn="l"/>
            <a:r>
              <a:rPr sz="2300" b="0" i="0">
                <a:solidFill>
                  <a:srgbClr val="193B22"/>
                </a:solidFill>
              </a:rPr>
              <a:t>특약 넣음 / 거절당함 기록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2049886"/>
            <a:ext cx="762000" cy="254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000" b="1" i="0">
                <a:solidFill>
                  <a:srgbClr val="288D26"/>
                </a:solidFill>
              </a:rPr>
              <a:t>↓</a:t>
            </a:r>
          </a:p>
        </p:txBody>
      </p:sp>
      <p:sp>
        <p:nvSpPr>
          <p:cNvPr id="45" name="흐름 3"/>
          <p:cNvSpPr/>
          <p:nvPr/>
        </p:nvSpPr>
        <p:spPr>
          <a:xfrm>
            <a:off x="1955800" y="22303886"/>
            <a:ext cx="9652000" cy="101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84400" y="22303886"/>
            <a:ext cx="3429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3000" b="1" i="0">
                <a:solidFill>
                  <a:srgbClr val="288D26"/>
                </a:solidFill>
              </a:rPr>
              <a:t>03  계약~입주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51500" y="22303886"/>
            <a:ext cx="5842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 dirty="0" err="1">
                <a:solidFill>
                  <a:srgbClr val="193B22"/>
                </a:solidFill>
              </a:rPr>
              <a:t>날짜</a:t>
            </a:r>
            <a:r>
              <a:rPr sz="2300" b="0" i="0" dirty="0">
                <a:solidFill>
                  <a:srgbClr val="193B22"/>
                </a:solidFill>
              </a:rPr>
              <a:t> </a:t>
            </a:r>
            <a:r>
              <a:rPr sz="2300" b="0" i="0" dirty="0" err="1">
                <a:solidFill>
                  <a:srgbClr val="193B22"/>
                </a:solidFill>
              </a:rPr>
              <a:t>입력</a:t>
            </a:r>
            <a:r>
              <a:rPr sz="2300" b="0" i="0" dirty="0">
                <a:solidFill>
                  <a:srgbClr val="193B22"/>
                </a:solidFill>
              </a:rPr>
              <a:t> → </a:t>
            </a:r>
            <a:r>
              <a:rPr sz="2300" b="0" i="0" dirty="0" err="1">
                <a:solidFill>
                  <a:srgbClr val="193B22"/>
                </a:solidFill>
              </a:rPr>
              <a:t>맞춤</a:t>
            </a:r>
            <a:r>
              <a:rPr sz="2300" b="0" i="0" dirty="0">
                <a:solidFill>
                  <a:srgbClr val="193B22"/>
                </a:solidFill>
              </a:rPr>
              <a:t> 할 일 9종</a:t>
            </a:r>
          </a:p>
          <a:p>
            <a:pPr algn="l"/>
            <a:r>
              <a:rPr sz="2300" b="0" i="0" dirty="0" err="1">
                <a:solidFill>
                  <a:srgbClr val="193B22"/>
                </a:solidFill>
              </a:rPr>
              <a:t>증빙</a:t>
            </a:r>
            <a:r>
              <a:rPr sz="2300" b="0" i="0" dirty="0">
                <a:solidFill>
                  <a:srgbClr val="193B22"/>
                </a:solidFill>
              </a:rPr>
              <a:t> </a:t>
            </a:r>
            <a:r>
              <a:rPr sz="2300" b="0" i="0" dirty="0" err="1">
                <a:solidFill>
                  <a:srgbClr val="193B22"/>
                </a:solidFill>
              </a:rPr>
              <a:t>사진은</a:t>
            </a:r>
            <a:r>
              <a:rPr sz="2300" b="0" i="0" dirty="0">
                <a:solidFill>
                  <a:srgbClr val="193B22"/>
                </a:solidFill>
              </a:rPr>
              <a:t> </a:t>
            </a:r>
            <a:r>
              <a:rPr sz="2300" b="0" i="0" dirty="0" err="1">
                <a:solidFill>
                  <a:srgbClr val="193B22"/>
                </a:solidFill>
              </a:rPr>
              <a:t>전세</a:t>
            </a:r>
            <a:r>
              <a:rPr sz="2300" b="0" i="0" dirty="0">
                <a:solidFill>
                  <a:srgbClr val="193B22"/>
                </a:solidFill>
              </a:rPr>
              <a:t> </a:t>
            </a:r>
            <a:r>
              <a:rPr sz="2300" b="0" i="0" dirty="0" err="1">
                <a:solidFill>
                  <a:srgbClr val="193B22"/>
                </a:solidFill>
              </a:rPr>
              <a:t>기록함에</a:t>
            </a:r>
            <a:endParaRPr sz="2300" b="0" i="0" dirty="0">
              <a:solidFill>
                <a:srgbClr val="193B22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429000" y="23319886"/>
            <a:ext cx="762000" cy="254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000" b="1" i="0">
                <a:solidFill>
                  <a:srgbClr val="288D26"/>
                </a:solidFill>
              </a:rPr>
              <a:t>↓</a:t>
            </a:r>
          </a:p>
        </p:txBody>
      </p:sp>
      <p:sp>
        <p:nvSpPr>
          <p:cNvPr id="49" name="흐름 4"/>
          <p:cNvSpPr/>
          <p:nvPr/>
        </p:nvSpPr>
        <p:spPr>
          <a:xfrm>
            <a:off x="1955800" y="23573886"/>
            <a:ext cx="9652000" cy="101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184400" y="23573886"/>
            <a:ext cx="3429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3000" b="1" i="0">
                <a:solidFill>
                  <a:srgbClr val="288D26"/>
                </a:solidFill>
              </a:rPr>
              <a:t>04  거주·만기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51500" y="23573886"/>
            <a:ext cx="5842000" cy="1016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역전세 경보 재계산</a:t>
            </a:r>
          </a:p>
          <a:p>
            <a:pPr algn="l"/>
            <a:r>
              <a:rPr sz="2300" b="0" i="0">
                <a:solidFill>
                  <a:srgbClr val="193B22"/>
                </a:solidFill>
              </a:rPr>
              <a:t>보증금 반환 확인·다음 집 갈아타기</a:t>
            </a:r>
          </a:p>
        </p:txBody>
      </p:sp>
      <p:sp>
        <p:nvSpPr>
          <p:cNvPr id="52" name="시스템 앱"/>
          <p:cNvSpPr/>
          <p:nvPr/>
        </p:nvSpPr>
        <p:spPr>
          <a:xfrm>
            <a:off x="12509500" y="21414886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EEF8E9"/>
          </a:solidFill>
          <a:ln w="25400">
            <a:solidFill>
              <a:srgbClr val="AAD49D"/>
            </a:solidFill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800" b="1" i="0">
                <a:solidFill>
                  <a:srgbClr val="288D26"/>
                </a:solidFill>
              </a:rPr>
              <a:t>앱 (Expo)</a:t>
            </a:r>
          </a:p>
          <a:p>
            <a:pPr algn="ctr"/>
            <a:r>
              <a:rPr sz="2000" b="0" i="0">
                <a:solidFill>
                  <a:srgbClr val="193B22"/>
                </a:solidFill>
              </a:rPr>
              <a:t>웹·iOS·Android</a:t>
            </a:r>
          </a:p>
        </p:txBody>
      </p:sp>
      <p:sp>
        <p:nvSpPr>
          <p:cNvPr id="53" name="시스템 서버"/>
          <p:cNvSpPr/>
          <p:nvPr/>
        </p:nvSpPr>
        <p:spPr>
          <a:xfrm>
            <a:off x="15684500" y="21287886"/>
            <a:ext cx="3429000" cy="1778000"/>
          </a:xfrm>
          <a:prstGeom prst="roundRect">
            <a:avLst>
              <a:gd name="adj" fmla="val 8000"/>
            </a:avLst>
          </a:prstGeom>
          <a:solidFill>
            <a:srgbClr val="288D26"/>
          </a:solidFill>
          <a:ln>
            <a:noFill/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FastAPI 서버</a:t>
            </a:r>
          </a:p>
          <a:p>
            <a:pPr algn="ctr"/>
            <a:r>
              <a:rPr sz="2100" b="0" i="0">
                <a:solidFill>
                  <a:srgbClr val="FFFFFF"/>
                </a:solidFill>
              </a:rPr>
              <a:t>판정·할 일·경보 엔진</a:t>
            </a:r>
          </a:p>
        </p:txBody>
      </p:sp>
      <p:sp>
        <p:nvSpPr>
          <p:cNvPr id="54" name="시스템 규칙 파일(YAML) 7종"/>
          <p:cNvSpPr/>
          <p:nvPr/>
        </p:nvSpPr>
        <p:spPr>
          <a:xfrm>
            <a:off x="19812000" y="19763886"/>
            <a:ext cx="3683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AD49D"/>
            </a:solidFill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300" b="1" i="0">
                <a:solidFill>
                  <a:srgbClr val="288D26"/>
                </a:solidFill>
              </a:rPr>
              <a:t>규칙 파일(YAML) 7종</a:t>
            </a:r>
          </a:p>
          <a:p>
            <a:pPr algn="ctr"/>
            <a:r>
              <a:rPr sz="1800" b="0" i="0">
                <a:solidFill>
                  <a:srgbClr val="193B22"/>
                </a:solidFill>
              </a:rPr>
              <a:t>판정·특약·할 일·보증기관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19113500" y="20271886"/>
            <a:ext cx="698500" cy="1905000"/>
          </a:xfrm>
          <a:prstGeom prst="line">
            <a:avLst/>
          </a:prstGeom>
          <a:ln w="31750">
            <a:solidFill>
              <a:srgbClr val="288D26"/>
            </a:solidFill>
            <a:headEnd type="triangle" w="med" len="med"/>
          </a:ln>
        </p:spPr>
      </p:cxnSp>
      <p:sp>
        <p:nvSpPr>
          <p:cNvPr id="56" name="시스템 등기부 요약 PDF"/>
          <p:cNvSpPr/>
          <p:nvPr/>
        </p:nvSpPr>
        <p:spPr>
          <a:xfrm>
            <a:off x="19812000" y="21033886"/>
            <a:ext cx="3683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AD49D"/>
            </a:solidFill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300" b="1" i="0">
                <a:solidFill>
                  <a:srgbClr val="288D26"/>
                </a:solidFill>
              </a:rPr>
              <a:t>등기부 요약 PDF</a:t>
            </a:r>
          </a:p>
          <a:p>
            <a:pPr algn="ctr"/>
            <a:r>
              <a:rPr sz="1800" b="0" i="0">
                <a:solidFill>
                  <a:srgbClr val="193B22"/>
                </a:solidFill>
              </a:rPr>
              <a:t>pdfplumber 규칙 기반 파서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19113500" y="21541886"/>
            <a:ext cx="698500" cy="635000"/>
          </a:xfrm>
          <a:prstGeom prst="line">
            <a:avLst/>
          </a:prstGeom>
          <a:ln w="31750">
            <a:solidFill>
              <a:srgbClr val="288D26"/>
            </a:solidFill>
            <a:headEnd type="triangle" w="med" len="med"/>
          </a:ln>
        </p:spPr>
      </p:cxnSp>
      <p:sp>
        <p:nvSpPr>
          <p:cNvPr id="58" name="시스템 공공데이터포털"/>
          <p:cNvSpPr/>
          <p:nvPr/>
        </p:nvSpPr>
        <p:spPr>
          <a:xfrm>
            <a:off x="19812000" y="22303886"/>
            <a:ext cx="3683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AD49D"/>
            </a:solidFill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300" b="1" i="0">
                <a:solidFill>
                  <a:srgbClr val="288D26"/>
                </a:solidFill>
              </a:rPr>
              <a:t>공공데이터포털</a:t>
            </a:r>
          </a:p>
          <a:p>
            <a:pPr algn="ctr"/>
            <a:r>
              <a:rPr sz="1800" b="0" i="0">
                <a:solidFill>
                  <a:srgbClr val="193B22"/>
                </a:solidFill>
              </a:rPr>
              <a:t>아파트·연립다세대 실거래가 API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9113500" y="22176886"/>
            <a:ext cx="698500" cy="635000"/>
          </a:xfrm>
          <a:prstGeom prst="line">
            <a:avLst/>
          </a:prstGeom>
          <a:ln w="31750">
            <a:solidFill>
              <a:srgbClr val="288D26"/>
            </a:solidFill>
            <a:headEnd type="triangle" w="med" len="med"/>
          </a:ln>
        </p:spPr>
      </p:cxnSp>
      <p:sp>
        <p:nvSpPr>
          <p:cNvPr id="60" name="시스템 알림"/>
          <p:cNvSpPr/>
          <p:nvPr/>
        </p:nvSpPr>
        <p:spPr>
          <a:xfrm>
            <a:off x="19812000" y="23573886"/>
            <a:ext cx="36830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AD49D"/>
            </a:solidFill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300" b="1" i="0">
                <a:solidFill>
                  <a:srgbClr val="288D26"/>
                </a:solidFill>
              </a:rPr>
              <a:t>알림</a:t>
            </a:r>
          </a:p>
          <a:p>
            <a:pPr algn="ctr"/>
            <a:r>
              <a:rPr sz="1800" b="0" i="0">
                <a:solidFill>
                  <a:srgbClr val="193B22"/>
                </a:solidFill>
              </a:rPr>
              <a:t>이메일·ICS 기한표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9113500" y="22176886"/>
            <a:ext cx="698500" cy="1905000"/>
          </a:xfrm>
          <a:prstGeom prst="line">
            <a:avLst/>
          </a:prstGeom>
          <a:ln w="31750">
            <a:solidFill>
              <a:srgbClr val="288D26"/>
            </a:solidFill>
            <a:tailEnd type="triangle" w="med" len="med"/>
          </a:ln>
        </p:spPr>
      </p:cxnSp>
      <p:cxnSp>
        <p:nvCxnSpPr>
          <p:cNvPr id="62" name="Connector 61"/>
          <p:cNvCxnSpPr/>
          <p:nvPr/>
        </p:nvCxnSpPr>
        <p:spPr>
          <a:xfrm>
            <a:off x="15049500" y="22176886"/>
            <a:ext cx="635000" cy="0"/>
          </a:xfrm>
          <a:prstGeom prst="line">
            <a:avLst/>
          </a:prstGeom>
          <a:ln w="31750">
            <a:solidFill>
              <a:srgbClr val="288D26"/>
            </a:solidFill>
            <a:headEnd type="triangle" w="med" len="med"/>
            <a:tailEnd type="triangle" w="med" len="med"/>
          </a:ln>
        </p:spPr>
      </p:cxnSp>
      <p:sp>
        <p:nvSpPr>
          <p:cNvPr id="63" name="TextBox 62"/>
          <p:cNvSpPr txBox="1"/>
          <p:nvPr/>
        </p:nvSpPr>
        <p:spPr>
          <a:xfrm>
            <a:off x="12509500" y="19992486"/>
            <a:ext cx="6604000" cy="1143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/>
            <a:r>
              <a:rPr sz="1900" b="0" i="0">
                <a:solidFill>
                  <a:srgbClr val="68746A"/>
                </a:solidFill>
              </a:rPr>
              <a:t>판정 기준·연동 규칙·할 일 9종을 코드가 아닌</a:t>
            </a:r>
          </a:p>
          <a:p>
            <a:pPr algn="l"/>
            <a:r>
              <a:rPr sz="1900" b="0" i="0">
                <a:solidFill>
                  <a:srgbClr val="68746A"/>
                </a:solidFill>
              </a:rPr>
              <a:t>규칙 파일로 두어, 기준이 바뀌면 파일만 고칩니다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509500" y="23294486"/>
            <a:ext cx="6604000" cy="1143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/>
            <a:r>
              <a:rPr sz="1900" b="0" i="0">
                <a:solidFill>
                  <a:srgbClr val="68746A"/>
                </a:solidFill>
              </a:rPr>
              <a:t>가상 날짜로 2년 일정을 5분 안에 시연하고,</a:t>
            </a:r>
          </a:p>
          <a:p>
            <a:pPr algn="l"/>
            <a:r>
              <a:rPr sz="1900" b="0" i="0">
                <a:solidFill>
                  <a:srgbClr val="68746A"/>
                </a:solidFill>
              </a:rPr>
              <a:t>반환보증 기한은 이메일로 알립니다</a:t>
            </a:r>
          </a:p>
        </p:txBody>
      </p:sp>
      <p:sp>
        <p:nvSpPr>
          <p:cNvPr id="65" name="소제목 핵심 장면 · 계약 당일 실제로 넣은 특약에 맞춰 할 일이 바뀝니다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09700" y="25020864"/>
            <a:ext cx="2159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핵심 장면 · 계약 당일 실제로 넣은 특약에 맞춰 할 일이 바뀝니다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955800" y="25947964"/>
            <a:ext cx="11600000" cy="457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200" b="0" i="0">
                <a:solidFill>
                  <a:srgbClr val="193B22"/>
                </a:solidFill>
              </a:rPr>
              <a:t>시연 빌라에 </a:t>
            </a:r>
            <a:r>
              <a:rPr sz="2200" b="1" i="0">
                <a:solidFill>
                  <a:srgbClr val="193B22"/>
                </a:solidFill>
              </a:rPr>
              <a:t>‘잔금일 다음 날까지 담보 설정 금지’</a:t>
            </a:r>
            <a:r>
              <a:rPr sz="2200" b="0" i="0">
                <a:solidFill>
                  <a:srgbClr val="193B22"/>
                </a:solidFill>
              </a:rPr>
              <a:t> 특약을 넣었을 때와 거절당했을 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955800" y="26671864"/>
            <a:ext cx="5334000" cy="431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AD49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095500" y="26519464"/>
            <a:ext cx="5054600" cy="609600"/>
          </a:xfrm>
          <a:prstGeom prst="rect">
            <a:avLst/>
          </a:prstGeom>
          <a:solidFill>
            <a:srgbClr val="288D26"/>
          </a:solidFill>
          <a:ln>
            <a:noFill/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</a:rPr>
              <a:t>특약 넣음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86000" y="27256064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1   반환보증 가입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0" y="27789464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2   반환보증 마감 전 재알림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0" y="28322864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3   갱신·이사 의사 통보 안내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28856264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000" b="0" i="0">
                <a:solidFill>
                  <a:srgbClr val="193B22"/>
                </a:solidFill>
              </a:rPr>
              <a:t>⋮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29389664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8   전입신고 (잔금일)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35200" y="29999264"/>
            <a:ext cx="48260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/>
            <a:r>
              <a:rPr sz="1900" b="0" i="0">
                <a:solidFill>
                  <a:srgbClr val="68746A"/>
                </a:solidFill>
              </a:rPr>
              <a:t>기록함에 ‘특약이 보이는 계약서 사진’을 필수 서류로 추가합니다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89800" y="28424464"/>
            <a:ext cx="838200" cy="762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4400" b="1" i="0">
                <a:solidFill>
                  <a:srgbClr val="288D26"/>
                </a:solidFill>
              </a:rPr>
              <a:t>→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28000" y="26671864"/>
            <a:ext cx="5334000" cy="431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AD49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267700" y="26519464"/>
            <a:ext cx="5054600" cy="609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76200" tIns="25400" rIns="76200" bIns="25400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</a:rPr>
              <a:t>특약 거절당함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05800" y="27281464"/>
            <a:ext cx="4978400" cy="4826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58200" y="27256064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1" i="0">
                <a:solidFill>
                  <a:srgbClr val="C0392B"/>
                </a:solidFill>
              </a:rPr>
              <a:t>1   전입신고 (잔금일) 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58200" y="27789464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2   반환보증 가입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58200" y="28322864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3   반환보증 마감 전 재알림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58200" y="28856264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0" i="0">
                <a:solidFill>
                  <a:srgbClr val="193B22"/>
                </a:solidFill>
              </a:rPr>
              <a:t>4   갱신·이사 의사 통보 안내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58200" y="29389664"/>
            <a:ext cx="4826000" cy="5334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000" b="0" i="0">
                <a:solidFill>
                  <a:srgbClr val="193B22"/>
                </a:solidFill>
              </a:rPr>
              <a:t>⋮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07400" y="29999264"/>
            <a:ext cx="48260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/>
            <a:r>
              <a:rPr sz="1900" b="0" i="0">
                <a:solidFill>
                  <a:srgbClr val="68746A"/>
                </a:solidFill>
              </a:rPr>
              <a:t>잔금 당일 설정된 담보는 재비교로 못 잡으니, 당일 전입신고로 대항력을 확보하라고 안내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835500" y="33636305"/>
            <a:ext cx="3429000" cy="4318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288D26"/>
                </a:solidFill>
              </a:rPr>
              <a:t>계약</a:t>
            </a:r>
            <a:r>
              <a:rPr sz="2200" b="1" i="0" dirty="0">
                <a:solidFill>
                  <a:srgbClr val="288D26"/>
                </a:solidFill>
              </a:rPr>
              <a:t> </a:t>
            </a:r>
            <a:r>
              <a:rPr sz="2200" b="1" i="0" dirty="0" err="1">
                <a:solidFill>
                  <a:srgbClr val="288D26"/>
                </a:solidFill>
              </a:rPr>
              <a:t>당일</a:t>
            </a:r>
            <a:r>
              <a:rPr sz="2200" b="1" i="0" dirty="0">
                <a:solidFill>
                  <a:srgbClr val="288D26"/>
                </a:solidFill>
              </a:rPr>
              <a:t> </a:t>
            </a:r>
            <a:r>
              <a:rPr sz="2200" b="1" i="0" dirty="0" err="1">
                <a:solidFill>
                  <a:srgbClr val="288D26"/>
                </a:solidFill>
              </a:rPr>
              <a:t>체크</a:t>
            </a:r>
            <a:endParaRPr sz="2200" b="1" i="0" dirty="0">
              <a:solidFill>
                <a:srgbClr val="288D26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9485500" y="33636305"/>
            <a:ext cx="3429000" cy="4318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288D26"/>
                </a:solidFill>
              </a:rPr>
              <a:t>바뀐</a:t>
            </a:r>
            <a:r>
              <a:rPr sz="2200" b="1" i="0" dirty="0">
                <a:solidFill>
                  <a:srgbClr val="288D26"/>
                </a:solidFill>
              </a:rPr>
              <a:t> 할 일 </a:t>
            </a:r>
            <a:r>
              <a:rPr sz="2200" b="1" i="0" dirty="0" err="1">
                <a:solidFill>
                  <a:srgbClr val="288D26"/>
                </a:solidFill>
              </a:rPr>
              <a:t>목록</a:t>
            </a:r>
            <a:endParaRPr sz="2200" b="1" i="0" dirty="0">
              <a:solidFill>
                <a:srgbClr val="288D26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955800" y="31175855"/>
            <a:ext cx="11600000" cy="381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000" b="0" i="0">
                <a:solidFill>
                  <a:srgbClr val="68746A"/>
                </a:solidFill>
              </a:rPr>
              <a:t>※ 시연 빌라(보증금 1억 4천만 원, 내 보증금 비율 95.1%)를 할 일 엔진에 넣어 나온 실제 순서입니다.</a:t>
            </a:r>
          </a:p>
        </p:txBody>
      </p:sp>
      <p:sp>
        <p:nvSpPr>
          <p:cNvPr id="90" name="소제목 검증 결과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09700" y="32105962"/>
            <a:ext cx="1143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검증 결과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91" name="검증 등기부 요약 추출 항목"/>
          <p:cNvSpPr/>
          <p:nvPr/>
        </p:nvSpPr>
        <p:spPr>
          <a:xfrm>
            <a:off x="1955800" y="33096562"/>
            <a:ext cx="3683000" cy="228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955800" y="33198162"/>
            <a:ext cx="3683000" cy="1092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6000" b="1" i="0">
                <a:solidFill>
                  <a:srgbClr val="288D26"/>
                </a:solidFill>
              </a:rPr>
              <a:t>112/112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34315762"/>
            <a:ext cx="3479800" cy="965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100" b="1" i="0">
                <a:solidFill>
                  <a:srgbClr val="193B22"/>
                </a:solidFill>
              </a:rPr>
              <a:t>등기부 요약에서 읽은 항목</a:t>
            </a:r>
          </a:p>
          <a:p>
            <a:pPr algn="ctr"/>
            <a:r>
              <a:rPr sz="1900" b="0" i="0">
                <a:solidFill>
                  <a:srgbClr val="193B22"/>
                </a:solidFill>
              </a:rPr>
              <a:t>개발용 샘플 10건, 모두 일치</a:t>
            </a:r>
          </a:p>
        </p:txBody>
      </p:sp>
      <p:sp>
        <p:nvSpPr>
          <p:cNvPr id="94" name="검증 기한 계산 시나리오"/>
          <p:cNvSpPr/>
          <p:nvPr/>
        </p:nvSpPr>
        <p:spPr>
          <a:xfrm>
            <a:off x="5918200" y="33096562"/>
            <a:ext cx="3683000" cy="228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18200" y="33198162"/>
            <a:ext cx="3683000" cy="1092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6000" b="1" i="0">
                <a:solidFill>
                  <a:srgbClr val="288D26"/>
                </a:solidFill>
              </a:rPr>
              <a:t>10/10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19800" y="34315762"/>
            <a:ext cx="3479800" cy="965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100" b="1" i="0">
                <a:solidFill>
                  <a:srgbClr val="193B22"/>
                </a:solidFill>
              </a:rPr>
              <a:t>기한 계산 시나리오</a:t>
            </a:r>
          </a:p>
          <a:p>
            <a:pPr algn="ctr"/>
            <a:r>
              <a:rPr sz="1900" b="0" i="0">
                <a:solidFill>
                  <a:srgbClr val="193B22"/>
                </a:solidFill>
              </a:rPr>
              <a:t>정답표와 모두 일치</a:t>
            </a:r>
          </a:p>
        </p:txBody>
      </p:sp>
      <p:sp>
        <p:nvSpPr>
          <p:cNvPr id="97" name="검증 시연 집 판정·경보"/>
          <p:cNvSpPr/>
          <p:nvPr/>
        </p:nvSpPr>
        <p:spPr>
          <a:xfrm>
            <a:off x="9880600" y="33096562"/>
            <a:ext cx="3683000" cy="2286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880600" y="33198162"/>
            <a:ext cx="3683000" cy="1092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6000" b="1" i="0">
                <a:solidFill>
                  <a:srgbClr val="288D26"/>
                </a:solidFill>
              </a:rPr>
              <a:t>2/2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982200" y="34315762"/>
            <a:ext cx="3479800" cy="965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100" b="1" i="0">
                <a:solidFill>
                  <a:srgbClr val="193B22"/>
                </a:solidFill>
              </a:rPr>
              <a:t>시연 집 판정·경보</a:t>
            </a:r>
          </a:p>
          <a:p>
            <a:pPr algn="ctr"/>
            <a:r>
              <a:rPr sz="1900" b="0" i="0">
                <a:solidFill>
                  <a:srgbClr val="193B22"/>
                </a:solidFill>
              </a:rPr>
              <a:t>정답표와 일치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55800" y="35560362"/>
            <a:ext cx="11684000" cy="4318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300" b="1" i="0">
                <a:solidFill>
                  <a:srgbClr val="193B22"/>
                </a:solidFill>
              </a:rPr>
              <a:t>내 보증금 비율로 본 역전세 경보 (시연 집 2채)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955800" y="36779562"/>
            <a:ext cx="4602480" cy="482600"/>
          </a:xfrm>
          <a:prstGeom prst="rect">
            <a:avLst/>
          </a:prstGeom>
          <a:solidFill>
            <a:srgbClr val="CFEAC4"/>
          </a:solidFill>
          <a:ln>
            <a:noFill/>
          </a:ln>
        </p:spPr>
        <p:txBody>
          <a:bodyPr wrap="square" lIns="0" tIns="25400" rIns="0" bIns="25400" rtlCol="0" anchor="ctr"/>
          <a:lstStyle/>
          <a:p>
            <a:pPr algn="ctr"/>
            <a:r>
              <a:rPr sz="1900" b="1" i="0">
                <a:solidFill>
                  <a:srgbClr val="193B22"/>
                </a:solidFill>
              </a:rPr>
              <a:t>문제 없음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558280" y="36779562"/>
            <a:ext cx="2301239" cy="482600"/>
          </a:xfrm>
          <a:prstGeom prst="rect">
            <a:avLst/>
          </a:prstGeom>
          <a:solidFill>
            <a:srgbClr val="F7D774"/>
          </a:solidFill>
          <a:ln>
            <a:noFill/>
          </a:ln>
        </p:spPr>
        <p:txBody>
          <a:bodyPr wrap="square" lIns="0" tIns="25400" rIns="0" bIns="25400" rtlCol="0" anchor="ctr"/>
          <a:lstStyle/>
          <a:p>
            <a:pPr algn="ctr"/>
            <a:r>
              <a:rPr sz="1900" b="1" i="0">
                <a:solidFill>
                  <a:srgbClr val="193B22"/>
                </a:solidFill>
              </a:rPr>
              <a:t>주의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859520" y="36779562"/>
            <a:ext cx="2301240" cy="482600"/>
          </a:xfrm>
          <a:prstGeom prst="rect">
            <a:avLst/>
          </a:prstGeom>
          <a:solidFill>
            <a:srgbClr val="F0A04B"/>
          </a:solidFill>
          <a:ln>
            <a:noFill/>
          </a:ln>
        </p:spPr>
        <p:txBody>
          <a:bodyPr wrap="square" lIns="0" tIns="25400" rIns="0" bIns="25400" rtlCol="0" anchor="ctr"/>
          <a:lstStyle/>
          <a:p>
            <a:pPr algn="ctr"/>
            <a:r>
              <a:rPr sz="1900" b="1" i="0">
                <a:solidFill>
                  <a:srgbClr val="193B22"/>
                </a:solidFill>
              </a:rPr>
              <a:t>경고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160760" y="36779562"/>
            <a:ext cx="2301239" cy="4826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txBody>
          <a:bodyPr wrap="square" lIns="0" tIns="25400" rIns="0" bIns="25400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위험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50280" y="37287562"/>
            <a:ext cx="1016000" cy="330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1800" b="0" i="0">
                <a:solidFill>
                  <a:srgbClr val="68746A"/>
                </a:solidFill>
              </a:rPr>
              <a:t>80%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51520" y="37287562"/>
            <a:ext cx="1016000" cy="330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1800" b="0" i="0">
                <a:solidFill>
                  <a:srgbClr val="68746A"/>
                </a:solidFill>
              </a:rPr>
              <a:t>90%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52760" y="37287562"/>
            <a:ext cx="1016000" cy="3302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1800" b="0" i="0">
                <a:solidFill>
                  <a:srgbClr val="68746A"/>
                </a:solidFill>
              </a:rPr>
              <a:t>100%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61098" y="36042962"/>
            <a:ext cx="2032000" cy="381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000" b="1" i="0">
                <a:solidFill>
                  <a:srgbClr val="193B22"/>
                </a:solidFill>
              </a:rPr>
              <a:t>아파트 86.6%</a:t>
            </a:r>
          </a:p>
        </p:txBody>
      </p:sp>
      <p:sp>
        <p:nvSpPr>
          <p:cNvPr id="109" name="Isosceles Triangle 108"/>
          <p:cNvSpPr/>
          <p:nvPr/>
        </p:nvSpPr>
        <p:spPr>
          <a:xfrm rot="10800000">
            <a:off x="7937398" y="36449362"/>
            <a:ext cx="279400" cy="254000"/>
          </a:xfrm>
          <a:prstGeom prst="triangle">
            <a:avLst/>
          </a:prstGeom>
          <a:solidFill>
            <a:srgbClr val="193B2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017152" y="36042962"/>
            <a:ext cx="2032000" cy="381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000" b="1" i="0">
                <a:solidFill>
                  <a:srgbClr val="193B22"/>
                </a:solidFill>
              </a:rPr>
              <a:t>빌라 95.1%</a:t>
            </a:r>
          </a:p>
        </p:txBody>
      </p:sp>
      <p:sp>
        <p:nvSpPr>
          <p:cNvPr id="111" name="Isosceles Triangle 110"/>
          <p:cNvSpPr/>
          <p:nvPr/>
        </p:nvSpPr>
        <p:spPr>
          <a:xfrm rot="10800000">
            <a:off x="9893452" y="36449362"/>
            <a:ext cx="279400" cy="254000"/>
          </a:xfrm>
          <a:prstGeom prst="triangle">
            <a:avLst/>
          </a:prstGeom>
          <a:solidFill>
            <a:srgbClr val="193B2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955800" y="37668562"/>
            <a:ext cx="11684000" cy="381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1800" b="0" i="0">
                <a:solidFill>
                  <a:srgbClr val="68746A"/>
                </a:solidFill>
              </a:rPr>
              <a:t>비율 = (보증금 + 근저당) ÷ 추정 주택가격(공시가격 × 140%, 실거래가가 더 낮으면 그 값)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4835500" y="41930749"/>
            <a:ext cx="3429000" cy="4318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288D26"/>
                </a:solidFill>
              </a:rPr>
              <a:t>판정</a:t>
            </a:r>
            <a:r>
              <a:rPr sz="2200" b="1" i="0" dirty="0">
                <a:solidFill>
                  <a:srgbClr val="288D26"/>
                </a:solidFill>
              </a:rPr>
              <a:t> </a:t>
            </a:r>
            <a:r>
              <a:rPr sz="2200" b="1" i="0" dirty="0" err="1">
                <a:solidFill>
                  <a:srgbClr val="288D26"/>
                </a:solidFill>
              </a:rPr>
              <a:t>결과</a:t>
            </a:r>
            <a:endParaRPr sz="2200" b="1" i="0" dirty="0">
              <a:solidFill>
                <a:srgbClr val="288D26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9485500" y="41930749"/>
            <a:ext cx="3429000" cy="4318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288D26"/>
                </a:solidFill>
              </a:rPr>
              <a:t>역전세</a:t>
            </a:r>
            <a:r>
              <a:rPr sz="2200" b="1" i="0" dirty="0">
                <a:solidFill>
                  <a:srgbClr val="288D26"/>
                </a:solidFill>
              </a:rPr>
              <a:t> </a:t>
            </a:r>
            <a:r>
              <a:rPr sz="2200" b="1" i="0" dirty="0" err="1">
                <a:solidFill>
                  <a:srgbClr val="288D26"/>
                </a:solidFill>
              </a:rPr>
              <a:t>경보</a:t>
            </a:r>
            <a:endParaRPr sz="2200" b="1" i="0" dirty="0">
              <a:solidFill>
                <a:srgbClr val="288D26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955800" y="38139038"/>
            <a:ext cx="11506200" cy="666849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000" b="0" i="0" dirty="0">
                <a:solidFill>
                  <a:srgbClr val="68746A"/>
                </a:solidFill>
              </a:rPr>
              <a:t>※ </a:t>
            </a:r>
            <a:r>
              <a:rPr sz="2000" b="0" i="0" dirty="0" err="1">
                <a:solidFill>
                  <a:srgbClr val="68746A"/>
                </a:solidFill>
              </a:rPr>
              <a:t>등기부는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개발용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샘플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기준이며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처음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보는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등기부로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다시</a:t>
            </a:r>
            <a:r>
              <a:rPr sz="2000" b="0" i="0" dirty="0">
                <a:solidFill>
                  <a:srgbClr val="68746A"/>
                </a:solidFill>
              </a:rPr>
              <a:t> 잴 </a:t>
            </a:r>
            <a:r>
              <a:rPr sz="2000" b="0" i="0" dirty="0" err="1">
                <a:solidFill>
                  <a:srgbClr val="68746A"/>
                </a:solidFill>
              </a:rPr>
              <a:t>예정입니다</a:t>
            </a:r>
            <a:r>
              <a:rPr sz="2000" b="0" i="0" dirty="0">
                <a:solidFill>
                  <a:srgbClr val="68746A"/>
                </a:solidFill>
              </a:rPr>
              <a:t>. </a:t>
            </a:r>
            <a:endParaRPr lang="en-US" sz="2000" b="0" i="0" dirty="0">
              <a:solidFill>
                <a:srgbClr val="68746A"/>
              </a:solidFill>
            </a:endParaRPr>
          </a:p>
          <a:p>
            <a:pPr algn="l"/>
            <a:r>
              <a:rPr sz="2000" b="0" i="0" dirty="0" err="1">
                <a:solidFill>
                  <a:srgbClr val="68746A"/>
                </a:solidFill>
              </a:rPr>
              <a:t>읽은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값은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확인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화면에서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사용자가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확인·수정합니다</a:t>
            </a:r>
            <a:r>
              <a:rPr sz="2000" b="0" i="0" dirty="0">
                <a:solidFill>
                  <a:srgbClr val="68746A"/>
                </a:solidFill>
              </a:rPr>
              <a:t>. </a:t>
            </a:r>
            <a:r>
              <a:rPr sz="2000" b="0" i="0" dirty="0" err="1">
                <a:solidFill>
                  <a:srgbClr val="68746A"/>
                </a:solidFill>
              </a:rPr>
              <a:t>빌라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근저당</a:t>
            </a:r>
            <a:r>
              <a:rPr sz="2000" b="0" i="0" dirty="0">
                <a:solidFill>
                  <a:srgbClr val="68746A"/>
                </a:solidFill>
              </a:rPr>
              <a:t> 1,440만 </a:t>
            </a:r>
            <a:r>
              <a:rPr sz="2000" b="0" i="0" dirty="0" err="1">
                <a:solidFill>
                  <a:srgbClr val="68746A"/>
                </a:solidFill>
              </a:rPr>
              <a:t>원은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시연용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가상</a:t>
            </a:r>
            <a:r>
              <a:rPr sz="2000" b="0" i="0" dirty="0">
                <a:solidFill>
                  <a:srgbClr val="68746A"/>
                </a:solidFill>
              </a:rPr>
              <a:t> </a:t>
            </a:r>
            <a:r>
              <a:rPr sz="2000" b="0" i="0" dirty="0" err="1">
                <a:solidFill>
                  <a:srgbClr val="68746A"/>
                </a:solidFill>
              </a:rPr>
              <a:t>값입니다</a:t>
            </a:r>
            <a:r>
              <a:rPr sz="2000" b="0" i="0" dirty="0">
                <a:solidFill>
                  <a:srgbClr val="68746A"/>
                </a:solidFill>
              </a:rPr>
              <a:t>.</a:t>
            </a:r>
          </a:p>
        </p:txBody>
      </p:sp>
      <p:sp>
        <p:nvSpPr>
          <p:cNvPr id="118" name="소제목 기존 서비스와 비교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409700" y="42590749"/>
            <a:ext cx="1143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기존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서비스와</a:t>
            </a:r>
            <a:r>
              <a:rPr sz="4800" b="1" dirty="0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 </a:t>
            </a:r>
            <a:r>
              <a:rPr sz="4800" b="1" dirty="0" err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비교</a:t>
            </a:r>
            <a:endParaRPr sz="4800" dirty="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sp>
        <p:nvSpPr>
          <p:cNvPr id="119" name="소제목 비즈니스 모델·시장">
            <a:extLst>
              <a:ext uri="{FF2B5EF4-FFF2-40B4-BE49-F238E27FC236}">
                <a16:creationId xmlns:a16="http://schemas.microsoft.com/office/drawing/2014/main" id="{14565D32-0944-4B2D-AA47-C50D2D612CC4}"/>
              </a:ext>
            </a:extLst>
          </p:cNvPr>
          <p:cNvSpPr>
            <a:spLocks noGrp="1"/>
          </p:cNvSpPr>
          <p:nvPr/>
        </p:nvSpPr>
        <p:spPr>
          <a:xfrm>
            <a:off x="13970000" y="42590749"/>
            <a:ext cx="965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sz="4800" b="1">
                <a:gradFill>
                  <a:gsLst>
                    <a:gs pos="30000">
                      <a:srgbClr val="23901B"/>
                    </a:gs>
                    <a:gs pos="100000">
                      <a:srgbClr val="82E959"/>
                    </a:gs>
                  </a:gsLst>
                  <a:lin ang="0" scaled="0"/>
                </a:gradFill>
              </a:rPr>
              <a:t>비즈니스 모델·시장</a:t>
            </a:r>
            <a:endParaRPr sz="4800">
              <a:gradFill>
                <a:gsLst>
                  <a:gs pos="30000">
                    <a:srgbClr val="23901B"/>
                  </a:gs>
                  <a:gs pos="100000">
                    <a:srgbClr val="82E959"/>
                  </a:gs>
                </a:gsLst>
                <a:lin ang="0" scaled="0"/>
              </a:gradFill>
            </a:endParaRPr>
          </a:p>
        </p:txBody>
      </p:sp>
      <p:graphicFrame>
        <p:nvGraphicFramePr>
          <p:cNvPr id="120" name="비교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209275"/>
              </p:ext>
            </p:extLst>
          </p:nvPr>
        </p:nvGraphicFramePr>
        <p:xfrm>
          <a:off x="1955800" y="43606749"/>
          <a:ext cx="11684000" cy="3956431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7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288D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 dirty="0">
                          <a:solidFill>
                            <a:srgbClr val="FFFFFF"/>
                          </a:solidFill>
                        </a:rPr>
                        <a:t>HUG </a:t>
                      </a:r>
                      <a:r>
                        <a:rPr sz="2200" b="1" i="0" dirty="0" err="1">
                          <a:solidFill>
                            <a:srgbClr val="FFFFFF"/>
                          </a:solidFill>
                        </a:rPr>
                        <a:t>안심전세앱</a:t>
                      </a:r>
                      <a:endParaRPr sz="2200" b="1" i="0" dirty="0">
                        <a:solidFill>
                          <a:srgbClr val="FFFFFF"/>
                        </a:solidFill>
                      </a:endParaRP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288D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</a:rPr>
                        <a:t>직방 지킴진단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288D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</a:rPr>
                        <a:t>전동기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288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93B22"/>
                          </a:solidFill>
                        </a:rPr>
                        <a:t>쓰는 시점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 dirty="0" err="1">
                          <a:solidFill>
                            <a:srgbClr val="193B22"/>
                          </a:solidFill>
                        </a:rPr>
                        <a:t>계약</a:t>
                      </a:r>
                      <a:r>
                        <a:rPr sz="2000" b="0" i="0" dirty="0">
                          <a:solidFill>
                            <a:srgbClr val="193B22"/>
                          </a:solidFill>
                        </a:rPr>
                        <a:t> </a:t>
                      </a:r>
                      <a:r>
                        <a:rPr sz="2000" b="0" i="0" dirty="0" err="1">
                          <a:solidFill>
                            <a:srgbClr val="193B22"/>
                          </a:solidFill>
                        </a:rPr>
                        <a:t>전·보증</a:t>
                      </a:r>
                      <a:r>
                        <a:rPr sz="2000" b="0" i="0" dirty="0">
                          <a:solidFill>
                            <a:srgbClr val="193B22"/>
                          </a:solidFill>
                        </a:rPr>
                        <a:t> </a:t>
                      </a:r>
                      <a:r>
                        <a:rPr sz="2000" b="0" i="0" dirty="0" err="1">
                          <a:solidFill>
                            <a:srgbClr val="193B22"/>
                          </a:solidFill>
                        </a:rPr>
                        <a:t>가입</a:t>
                      </a:r>
                      <a:endParaRPr sz="2000" b="0" i="0" dirty="0">
                        <a:solidFill>
                          <a:srgbClr val="193B22"/>
                        </a:solidFill>
                      </a:endParaRP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계약 전 1회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288D26"/>
                          </a:solidFill>
                        </a:rPr>
                        <a:t>계약 당일~만기 후 3개월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93B22"/>
                          </a:solidFill>
                        </a:rPr>
                        <a:t>특약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—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맞춤 특약 제안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288D26"/>
                          </a:solidFill>
                        </a:rPr>
                        <a:t>넣음/거절 기록 → 할 일 변경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93B22"/>
                          </a:solidFill>
                        </a:rPr>
                        <a:t>날짜별 할 일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—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—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288D26"/>
                          </a:solidFill>
                        </a:rPr>
                        <a:t>내 계약 날짜로 9종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93B22"/>
                          </a:solidFill>
                        </a:rPr>
                        <a:t>가격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무료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i="0">
                          <a:solidFill>
                            <a:srgbClr val="193B22"/>
                          </a:solidFill>
                        </a:rPr>
                        <a:t>1회 4,900원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dirty="0" err="1">
                          <a:solidFill>
                            <a:srgbClr val="288D26"/>
                          </a:solidFill>
                        </a:rPr>
                        <a:t>확인</a:t>
                      </a:r>
                      <a:r>
                        <a:rPr sz="2000" b="1" i="0" dirty="0">
                          <a:solidFill>
                            <a:srgbClr val="288D26"/>
                          </a:solidFill>
                        </a:rPr>
                        <a:t> </a:t>
                      </a:r>
                      <a:r>
                        <a:rPr sz="2000" b="1" i="0" dirty="0" err="1">
                          <a:solidFill>
                            <a:srgbClr val="288D26"/>
                          </a:solidFill>
                        </a:rPr>
                        <a:t>무료</a:t>
                      </a:r>
                      <a:r>
                        <a:rPr sz="2000" b="1" i="0" dirty="0">
                          <a:solidFill>
                            <a:srgbClr val="288D26"/>
                          </a:solidFill>
                        </a:rPr>
                        <a:t> · </a:t>
                      </a:r>
                      <a:r>
                        <a:rPr sz="2000" b="1" i="0" dirty="0" err="1">
                          <a:solidFill>
                            <a:srgbClr val="288D26"/>
                          </a:solidFill>
                        </a:rPr>
                        <a:t>패키지</a:t>
                      </a:r>
                      <a:r>
                        <a:rPr sz="2000" b="1" i="0" dirty="0">
                          <a:solidFill>
                            <a:srgbClr val="288D26"/>
                          </a:solidFill>
                        </a:rPr>
                        <a:t> 9,900원</a:t>
                      </a:r>
                    </a:p>
                  </a:txBody>
                  <a:tcPr marL="63500" marR="63500" marT="25400" marB="25400" anchor="ctr">
                    <a:lnL w="9525">
                      <a:solidFill>
                        <a:srgbClr val="B6D9A8"/>
                      </a:solidFill>
                    </a:lnL>
                    <a:lnR w="9525">
                      <a:solidFill>
                        <a:srgbClr val="B6D9A8"/>
                      </a:solidFill>
                    </a:lnR>
                    <a:lnT w="9525">
                      <a:solidFill>
                        <a:srgbClr val="B6D9A8"/>
                      </a:solidFill>
                    </a:lnT>
                    <a:lnB w="9525">
                      <a:solidFill>
                        <a:srgbClr val="B6D9A8"/>
                      </a:solidFill>
                    </a:lnB>
                    <a:solidFill>
                      <a:srgbClr val="EE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1" name="TextBox 120"/>
          <p:cNvSpPr txBox="1"/>
          <p:nvPr/>
        </p:nvSpPr>
        <p:spPr>
          <a:xfrm>
            <a:off x="1955800" y="47594549"/>
            <a:ext cx="11684000" cy="355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1800" b="0" i="0" dirty="0">
                <a:solidFill>
                  <a:srgbClr val="68746A"/>
                </a:solidFill>
              </a:rPr>
              <a:t>※ 각 </a:t>
            </a:r>
            <a:r>
              <a:rPr sz="1800" b="0" i="0" dirty="0" err="1">
                <a:solidFill>
                  <a:srgbClr val="68746A"/>
                </a:solidFill>
              </a:rPr>
              <a:t>서비스</a:t>
            </a:r>
            <a:r>
              <a:rPr sz="1800" b="0" i="0" dirty="0">
                <a:solidFill>
                  <a:srgbClr val="68746A"/>
                </a:solidFill>
              </a:rPr>
              <a:t> </a:t>
            </a:r>
            <a:r>
              <a:rPr sz="1800" b="0" i="0" dirty="0" err="1">
                <a:solidFill>
                  <a:srgbClr val="68746A"/>
                </a:solidFill>
              </a:rPr>
              <a:t>공개</a:t>
            </a:r>
            <a:r>
              <a:rPr sz="1800" b="0" i="0" dirty="0">
                <a:solidFill>
                  <a:srgbClr val="68746A"/>
                </a:solidFill>
              </a:rPr>
              <a:t> </a:t>
            </a:r>
            <a:r>
              <a:rPr sz="1800" b="0" i="0" dirty="0" err="1">
                <a:solidFill>
                  <a:srgbClr val="68746A"/>
                </a:solidFill>
              </a:rPr>
              <a:t>자료와</a:t>
            </a:r>
            <a:r>
              <a:rPr sz="1800" b="0" i="0" dirty="0">
                <a:solidFill>
                  <a:srgbClr val="68746A"/>
                </a:solidFill>
              </a:rPr>
              <a:t> </a:t>
            </a:r>
            <a:r>
              <a:rPr sz="1800" b="0" i="0" dirty="0" err="1">
                <a:solidFill>
                  <a:srgbClr val="68746A"/>
                </a:solidFill>
              </a:rPr>
              <a:t>직접</a:t>
            </a:r>
            <a:r>
              <a:rPr sz="1800" b="0" i="0" dirty="0">
                <a:solidFill>
                  <a:srgbClr val="68746A"/>
                </a:solidFill>
              </a:rPr>
              <a:t> </a:t>
            </a:r>
            <a:r>
              <a:rPr sz="1800" b="0" i="0" dirty="0" err="1">
                <a:solidFill>
                  <a:srgbClr val="68746A"/>
                </a:solidFill>
              </a:rPr>
              <a:t>사용</a:t>
            </a:r>
            <a:r>
              <a:rPr sz="1800" b="0" i="0" dirty="0">
                <a:solidFill>
                  <a:srgbClr val="68746A"/>
                </a:solidFill>
              </a:rPr>
              <a:t> </a:t>
            </a:r>
            <a:r>
              <a:rPr sz="1800" b="0" i="0" dirty="0" err="1">
                <a:solidFill>
                  <a:srgbClr val="68746A"/>
                </a:solidFill>
              </a:rPr>
              <a:t>기준</a:t>
            </a:r>
            <a:r>
              <a:rPr sz="1800" b="0" i="0" dirty="0">
                <a:solidFill>
                  <a:srgbClr val="68746A"/>
                </a:solidFill>
              </a:rPr>
              <a:t> (2026년 10월)</a:t>
            </a:r>
          </a:p>
        </p:txBody>
      </p:sp>
      <p:sp>
        <p:nvSpPr>
          <p:cNvPr id="122" name="BM 1"/>
          <p:cNvSpPr/>
          <p:nvPr/>
        </p:nvSpPr>
        <p:spPr>
          <a:xfrm>
            <a:off x="14351000" y="43606749"/>
            <a:ext cx="9144000" cy="7366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4541500" y="43606749"/>
            <a:ext cx="14605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500" b="1" i="0">
                <a:solidFill>
                  <a:srgbClr val="288D26"/>
                </a:solidFill>
              </a:rPr>
              <a:t>무료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027400" y="43606749"/>
            <a:ext cx="73660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100" b="0" i="0">
                <a:solidFill>
                  <a:srgbClr val="193B22"/>
                </a:solidFill>
              </a:rPr>
              <a:t>계약 전 확인 — 등기부 판정·역전세 지표</a:t>
            </a:r>
          </a:p>
        </p:txBody>
      </p:sp>
      <p:sp>
        <p:nvSpPr>
          <p:cNvPr id="125" name="BM 2"/>
          <p:cNvSpPr/>
          <p:nvPr/>
        </p:nvSpPr>
        <p:spPr>
          <a:xfrm>
            <a:off x="14351000" y="44444949"/>
            <a:ext cx="9144000" cy="7366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4541500" y="44444949"/>
            <a:ext cx="14605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500" b="1" i="0">
                <a:solidFill>
                  <a:srgbClr val="288D26"/>
                </a:solidFill>
              </a:rPr>
              <a:t>9,900원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6027400" y="44444949"/>
            <a:ext cx="73660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100" b="0" i="0">
                <a:solidFill>
                  <a:srgbClr val="193B22"/>
                </a:solidFill>
              </a:rPr>
              <a:t>패키지(당일~만기 후 3개월), 다가구·단독 4,900원</a:t>
            </a:r>
          </a:p>
        </p:txBody>
      </p:sp>
      <p:sp>
        <p:nvSpPr>
          <p:cNvPr id="128" name="BM 3"/>
          <p:cNvSpPr/>
          <p:nvPr/>
        </p:nvSpPr>
        <p:spPr>
          <a:xfrm>
            <a:off x="14351000" y="45283149"/>
            <a:ext cx="9144000" cy="7366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4541500" y="45283149"/>
            <a:ext cx="14605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500" b="1" i="0">
                <a:solidFill>
                  <a:srgbClr val="288D26"/>
                </a:solidFill>
              </a:rPr>
              <a:t>B2G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027400" y="45283149"/>
            <a:ext cx="73660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100" b="0" i="0">
                <a:solidFill>
                  <a:srgbClr val="193B22"/>
                </a:solidFill>
              </a:rPr>
              <a:t>지자체·대학 이용권 (1장 9,900원 기준)</a:t>
            </a:r>
          </a:p>
        </p:txBody>
      </p:sp>
      <p:sp>
        <p:nvSpPr>
          <p:cNvPr id="131" name="BM 4"/>
          <p:cNvSpPr/>
          <p:nvPr/>
        </p:nvSpPr>
        <p:spPr>
          <a:xfrm>
            <a:off x="14351000" y="46121349"/>
            <a:ext cx="9144000" cy="7366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4541500" y="46121349"/>
            <a:ext cx="14605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500" b="1" i="0">
                <a:solidFill>
                  <a:srgbClr val="288D26"/>
                </a:solidFill>
              </a:rPr>
              <a:t>시장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027400" y="46121349"/>
            <a:ext cx="7366000" cy="7366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l"/>
            <a:r>
              <a:rPr sz="2100" b="0" i="0">
                <a:solidFill>
                  <a:srgbClr val="193B22"/>
                </a:solidFill>
              </a:rPr>
              <a:t>부산 전세 43,941건 중 1% ≈ 440건 (가설)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351000" y="47010349"/>
            <a:ext cx="9144000" cy="889000"/>
          </a:xfrm>
          <a:prstGeom prst="rect">
            <a:avLst/>
          </a:prstGeom>
          <a:noFill/>
        </p:spPr>
        <p:txBody>
          <a:bodyPr wrap="square" lIns="0" tIns="25400" rIns="0" bIns="25400" anchor="t">
            <a:spAutoFit/>
          </a:bodyPr>
          <a:lstStyle/>
          <a:p>
            <a:pPr algn="l"/>
            <a:r>
              <a:rPr sz="2300" b="1" i="0">
                <a:solidFill>
                  <a:srgbClr val="288D26"/>
                </a:solidFill>
              </a:rPr>
              <a:t>첫 고객  </a:t>
            </a:r>
            <a:r>
              <a:rPr sz="2200" b="1" i="0">
                <a:solidFill>
                  <a:srgbClr val="193B22"/>
                </a:solidFill>
              </a:rPr>
              <a:t>부산 20~30대 첫 전세 세입자 (대학·청년 주거 기관으로 유입)</a:t>
            </a:r>
          </a:p>
          <a:p>
            <a:pPr algn="l"/>
            <a:r>
              <a:rPr sz="2300" b="1" i="0">
                <a:solidFill>
                  <a:srgbClr val="288D26"/>
                </a:solidFill>
              </a:rPr>
              <a:t>확장  </a:t>
            </a:r>
            <a:r>
              <a:rPr sz="2200" b="1" i="0">
                <a:solidFill>
                  <a:srgbClr val="193B22"/>
                </a:solidFill>
              </a:rPr>
              <a:t>B2G 1곳 연 1,000장 ≈ 990만 원 → 수도권 약 47만 건</a:t>
            </a:r>
          </a:p>
        </p:txBody>
      </p:sp>
      <p:pic>
        <p:nvPicPr>
          <p:cNvPr id="4" name="앱 사진 계약 당일 체크">
            <a:extLst>
              <a:ext uri="{FF2B5EF4-FFF2-40B4-BE49-F238E27FC236}">
                <a16:creationId xmlns:a16="http://schemas.microsoft.com/office/drawing/2014/main" id="{26F79AE2-85AC-1D8A-3A4B-B23F7D7259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00" y="25971861"/>
            <a:ext cx="4300000" cy="7644444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pic>
        <p:nvPicPr>
          <p:cNvPr id="7" name="앱 사진 바뀐 할 일 목록">
            <a:extLst>
              <a:ext uri="{FF2B5EF4-FFF2-40B4-BE49-F238E27FC236}">
                <a16:creationId xmlns:a16="http://schemas.microsoft.com/office/drawing/2014/main" id="{9F824834-D409-E85D-8190-7D5D7C9B948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0" y="25971861"/>
            <a:ext cx="4300000" cy="7644444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pic>
        <p:nvPicPr>
          <p:cNvPr id="12" name="앱 사진 판정 결과">
            <a:extLst>
              <a:ext uri="{FF2B5EF4-FFF2-40B4-BE49-F238E27FC236}">
                <a16:creationId xmlns:a16="http://schemas.microsoft.com/office/drawing/2014/main" id="{22BC68A0-4EE0-AF8C-AE98-DF867199A5C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00" y="34266305"/>
            <a:ext cx="4300000" cy="7644444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pic>
        <p:nvPicPr>
          <p:cNvPr id="14" name="앱 사진 역전세 경보">
            <a:extLst>
              <a:ext uri="{FF2B5EF4-FFF2-40B4-BE49-F238E27FC236}">
                <a16:creationId xmlns:a16="http://schemas.microsoft.com/office/drawing/2014/main" id="{1B4A8C2E-D094-05D7-FD7C-799B81B4FC1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0" y="34266305"/>
            <a:ext cx="4300000" cy="7644444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135" name="검증 등기부 요약 추출 항목"/>
          <p:cNvSpPr/>
          <p:nvPr/>
        </p:nvSpPr>
        <p:spPr>
          <a:xfrm>
            <a:off x="1955800" y="12980000"/>
            <a:ext cx="7001333" cy="2150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91"/>
          <p:cNvSpPr txBox="1"/>
          <p:nvPr/>
        </p:nvSpPr>
        <p:spPr>
          <a:xfrm>
            <a:off x="1955800" y="13060000"/>
            <a:ext cx="7001333" cy="1090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6000" b="1" i="0">
                <a:solidFill>
                  <a:srgbClr val="288D26"/>
                </a:solidFill>
              </a:rPr>
              <a:t>40,936명</a:t>
            </a:r>
          </a:p>
        </p:txBody>
      </p:sp>
      <p:sp>
        <p:nvSpPr>
          <p:cNvPr id="137" name="문제 1"/>
          <p:cNvSpPr txBox="1"/>
          <p:nvPr/>
        </p:nvSpPr>
        <p:spPr>
          <a:xfrm>
            <a:off x="2055800" y="14130000"/>
            <a:ext cx="6801333" cy="970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400" b="1" i="0">
                <a:solidFill>
                  <a:srgbClr val="193B22"/>
                </a:solidFill>
              </a:rPr>
              <a:t>전세사기 피해자 누적</a:t>
            </a:r>
          </a:p>
          <a:p>
            <a:pPr algn="ctr"/>
            <a:r>
              <a:rPr sz="2000" b="0" i="0">
                <a:solidFill>
                  <a:srgbClr val="193B22"/>
                </a:solidFill>
              </a:rPr>
              <a:t>2026.9 발표, 매달 약 600명 추가</a:t>
            </a:r>
          </a:p>
        </p:txBody>
      </p:sp>
      <p:sp>
        <p:nvSpPr>
          <p:cNvPr id="138" name="검증 등기부 요약 추출 항목"/>
          <p:cNvSpPr/>
          <p:nvPr/>
        </p:nvSpPr>
        <p:spPr>
          <a:xfrm>
            <a:off x="9297133" y="12980000"/>
            <a:ext cx="7001333" cy="2150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91"/>
          <p:cNvSpPr txBox="1"/>
          <p:nvPr/>
        </p:nvSpPr>
        <p:spPr>
          <a:xfrm>
            <a:off x="9297133" y="13060000"/>
            <a:ext cx="7001333" cy="1090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6000" b="1" i="0">
                <a:solidFill>
                  <a:srgbClr val="288D26"/>
                </a:solidFill>
              </a:rPr>
              <a:t>19,309건</a:t>
            </a:r>
          </a:p>
        </p:txBody>
      </p:sp>
      <p:sp>
        <p:nvSpPr>
          <p:cNvPr id="140" name="문제 2"/>
          <p:cNvSpPr txBox="1"/>
          <p:nvPr/>
        </p:nvSpPr>
        <p:spPr>
          <a:xfrm>
            <a:off x="9397133" y="14130000"/>
            <a:ext cx="6801333" cy="970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400" b="1" i="0">
                <a:solidFill>
                  <a:srgbClr val="193B22"/>
                </a:solidFill>
              </a:rPr>
              <a:t>2025년 임차권등기 신청</a:t>
            </a:r>
          </a:p>
          <a:p>
            <a:pPr algn="ctr"/>
            <a:r>
              <a:rPr sz="2000" b="0" i="0">
                <a:solidFill>
                  <a:srgbClr val="193B22"/>
                </a:solidFill>
              </a:rPr>
              <a:t>보증금을 못 받은 뒤에야 서류를 찾음</a:t>
            </a:r>
          </a:p>
        </p:txBody>
      </p:sp>
      <p:sp>
        <p:nvSpPr>
          <p:cNvPr id="141" name="검증 등기부 요약 추출 항목"/>
          <p:cNvSpPr/>
          <p:nvPr/>
        </p:nvSpPr>
        <p:spPr>
          <a:xfrm>
            <a:off x="16638466" y="12980000"/>
            <a:ext cx="7001333" cy="2150000"/>
          </a:xfrm>
          <a:prstGeom prst="rect">
            <a:avLst/>
          </a:prstGeom>
          <a:solidFill>
            <a:srgbClr val="EEF8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91"/>
          <p:cNvSpPr txBox="1"/>
          <p:nvPr/>
        </p:nvSpPr>
        <p:spPr>
          <a:xfrm>
            <a:off x="16638466" y="13060000"/>
            <a:ext cx="7001333" cy="1090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6000" b="1" i="0">
                <a:solidFill>
                  <a:srgbClr val="288D26"/>
                </a:solidFill>
              </a:rPr>
              <a:t>계약 기간 ½</a:t>
            </a:r>
          </a:p>
        </p:txBody>
      </p:sp>
      <p:sp>
        <p:nvSpPr>
          <p:cNvPr id="143" name="문제 3"/>
          <p:cNvSpPr txBox="1"/>
          <p:nvPr/>
        </p:nvSpPr>
        <p:spPr>
          <a:xfrm>
            <a:off x="16738466" y="14130000"/>
            <a:ext cx="6801333" cy="970000"/>
          </a:xfrm>
          <a:prstGeom prst="rect">
            <a:avLst/>
          </a:prstGeom>
          <a:noFill/>
        </p:spPr>
        <p:txBody>
          <a:bodyPr wrap="square" lIns="0" tIns="25400" rIns="0" bIns="25400" anchor="ctr">
            <a:spAutoFit/>
          </a:bodyPr>
          <a:lstStyle/>
          <a:p>
            <a:pPr algn="ctr"/>
            <a:r>
              <a:rPr sz="2400" b="1" i="0">
                <a:solidFill>
                  <a:srgbClr val="193B22"/>
                </a:solidFill>
              </a:rPr>
              <a:t>반환보증 가입 마감 (HUG)</a:t>
            </a:r>
          </a:p>
          <a:p>
            <a:pPr algn="ctr"/>
            <a:r>
              <a:rPr sz="2000" b="0" i="0">
                <a:solidFill>
                  <a:srgbClr val="193B22"/>
                </a:solidFill>
              </a:rPr>
              <a:t>집값이 떨어진 걸 늦게 알면 못 듦</a:t>
            </a:r>
          </a:p>
        </p:txBody>
      </p:sp>
      <p:sp>
        <p:nvSpPr>
          <p:cNvPr id="144" name="직사각형 27">
            <a:extLst>
              <a:ext uri="{FF2B5EF4-FFF2-40B4-BE49-F238E27FC236}">
                <a16:creationId xmlns:a16="http://schemas.microsoft.com/office/drawing/2014/main" id="{91F2074B-E09C-4F8B-B742-E9CD3DBCEDED}"/>
              </a:ext>
            </a:extLst>
          </p:cNvPr>
          <p:cNvSpPr>
            <a:spLocks noGrp="1"/>
          </p:cNvSpPr>
          <p:nvPr/>
        </p:nvSpPr>
        <p:spPr>
          <a:xfrm>
            <a:off x="13030000" y="17137886"/>
            <a:ext cx="10600000" cy="11600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ko-KR" altLang="en-US" sz="3600" b="0" i="0" dirty="0">
                <a:latin typeface="+mn-ea"/>
                <a:cs typeface="+mn-ea"/>
              </a:rPr>
              <a:t>보증금 비율 역전세 경보</a:t>
            </a:r>
          </a:p>
          <a:p>
            <a:pPr marL="457200" indent="-457200">
              <a:buFont typeface="Arial"/>
              <a:buChar char="•"/>
            </a:pPr>
            <a:r>
              <a:rPr lang="ko-KR" altLang="en-US" sz="3600" b="0" i="0" dirty="0">
                <a:latin typeface="+mn-ea"/>
                <a:cs typeface="+mn-ea"/>
              </a:rPr>
              <a:t>등기부 판정·계약 당일 체크</a:t>
            </a:r>
          </a:p>
        </p:txBody>
      </p:sp>
    </p:spTree>
    <p:extLst>
      <p:ext uri="{BB962C8B-B14F-4D97-AF65-F5344CB8AC3E}">
        <p14:creationId xmlns:p14="http://schemas.microsoft.com/office/powerpoint/2010/main" val="413380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708</Words>
  <Application>Microsoft Office PowerPoint</Application>
  <DocSecurity>0</DocSecurity>
  <PresentationFormat>사용자 지정</PresentationFormat>
  <Paragraphs>140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에스코어 드림 9 Black</vt:lpstr>
      <vt:lpstr>Aptos</vt:lpstr>
      <vt:lpstr>Aptos Display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상헌 황</cp:lastModifiedBy>
  <cp:revision>8</cp:revision>
  <dcterms:created xsi:type="dcterms:W3CDTF">2026-10-16T09:20:51Z</dcterms:created>
  <dcterms:modified xsi:type="dcterms:W3CDTF">2026-10-26T15:28:45Z</dcterms:modified>
</cp:coreProperties>
</file>